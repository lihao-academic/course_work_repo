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Lst>
  <p:notesMasterIdLst>
    <p:notesMasterId r:id="rId15"/>
  </p:notesMasterIdLst>
  <p:sldIdLst>
    <p:sldId id="258" r:id="rId2"/>
    <p:sldId id="263" r:id="rId3"/>
    <p:sldId id="264" r:id="rId4"/>
    <p:sldId id="265" r:id="rId5"/>
    <p:sldId id="279" r:id="rId6"/>
    <p:sldId id="282" r:id="rId7"/>
    <p:sldId id="275" r:id="rId8"/>
    <p:sldId id="276" r:id="rId9"/>
    <p:sldId id="277" r:id="rId10"/>
    <p:sldId id="278" r:id="rId11"/>
    <p:sldId id="281" r:id="rId12"/>
    <p:sldId id="273" r:id="rId13"/>
    <p:sldId id="271" r:id="rId14"/>
  </p:sldIdLst>
  <p:sldSz cx="9144000" cy="5143500" type="screen16x9"/>
  <p:notesSz cx="6858000" cy="9144000"/>
  <p:embeddedFontLst>
    <p:embeddedFont>
      <p:font typeface="Lekton" panose="02010600030101010101" charset="0"/>
      <p:regular r:id="rId16"/>
      <p:bold r:id="rId17"/>
      <p:italic r:id="rId18"/>
    </p:embeddedFont>
    <p:embeddedFont>
      <p:font typeface="Titillium Web" panose="000005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386">
          <p15:clr>
            <a:srgbClr val="A4A3A4"/>
          </p15:clr>
        </p15:guide>
        <p15:guide id="2" pos="2098">
          <p15:clr>
            <a:srgbClr val="A4A3A4"/>
          </p15:clr>
        </p15:guide>
        <p15:guide id="3" pos="2324">
          <p15:clr>
            <a:srgbClr val="A4A3A4"/>
          </p15:clr>
        </p15:guide>
        <p15:guide id="4" pos="340">
          <p15:clr>
            <a:srgbClr val="A4A3A4"/>
          </p15:clr>
        </p15:guide>
        <p15:guide id="5" pos="2977">
          <p15:clr>
            <a:srgbClr val="A4A3A4"/>
          </p15:clr>
        </p15:guide>
        <p15:guide id="6" orient="horz" pos="737">
          <p15:clr>
            <a:srgbClr val="A4A3A4"/>
          </p15:clr>
        </p15:guide>
        <p15:guide id="7" orient="horz" pos="3005">
          <p15:clr>
            <a:srgbClr val="A4A3A4"/>
          </p15:clr>
        </p15:guide>
        <p15:guide id="8" orient="horz" pos="1757">
          <p15:clr>
            <a:srgbClr val="A4A3A4"/>
          </p15:clr>
        </p15:guide>
        <p15:guide id="9" orient="horz" pos="542">
          <p15:clr>
            <a:srgbClr val="A4A3A4"/>
          </p15:clr>
        </p15:guide>
        <p15:guide id="10" orient="horz" pos="10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3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94660"/>
  </p:normalViewPr>
  <p:slideViewPr>
    <p:cSldViewPr snapToGrid="0">
      <p:cViewPr varScale="1">
        <p:scale>
          <a:sx n="139" d="100"/>
          <a:sy n="139" d="100"/>
        </p:scale>
        <p:origin x="798" y="120"/>
      </p:cViewPr>
      <p:guideLst>
        <p:guide pos="5386"/>
        <p:guide pos="2098"/>
        <p:guide pos="2324"/>
        <p:guide pos="340"/>
        <p:guide pos="2977"/>
        <p:guide orient="horz" pos="737"/>
        <p:guide orient="horz" pos="3005"/>
        <p:guide orient="horz" pos="1757"/>
        <p:guide orient="horz" pos="542"/>
        <p:guide orient="horz" pos="101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371192460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371192460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a2f6af151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a2f6af151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408aeda40d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408aeda40d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2f6af1515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a2f6af151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2f6af1515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a2f6af151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6446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2f6af1515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a2f6af151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893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2f6af1515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a2f6af151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4373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2f6af1515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a2f6af151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3934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2f6af1515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a2f6af151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5496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2f6af1515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a2f6af151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1016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2f6af1515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a2f6af151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230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408aeda40d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408aeda40d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0514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a71748b72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a71748b72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l titolo 1">
  <p:cSld name="TITLE_1">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017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Font typeface="Lekton"/>
              <a:buNone/>
              <a:defRPr sz="4200" b="1">
                <a:latin typeface="Lekton"/>
                <a:ea typeface="Lekton"/>
                <a:cs typeface="Lekton"/>
                <a:sym typeface="Lekton"/>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a:t>
            </a:fld>
            <a:endParaRPr/>
          </a:p>
        </p:txBody>
      </p:sp>
      <p:sp>
        <p:nvSpPr>
          <p:cNvPr id="12" name="Google Shape;12;p2"/>
          <p:cNvSpPr txBox="1">
            <a:spLocks noGrp="1"/>
          </p:cNvSpPr>
          <p:nvPr>
            <p:ph type="subTitle" idx="1"/>
          </p:nvPr>
        </p:nvSpPr>
        <p:spPr>
          <a:xfrm>
            <a:off x="867500" y="3427050"/>
            <a:ext cx="7557600" cy="507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rgbClr val="D66B55"/>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13" name="Google Shape;13;p2"/>
          <p:cNvSpPr txBox="1"/>
          <p:nvPr/>
        </p:nvSpPr>
        <p:spPr>
          <a:xfrm>
            <a:off x="726825" y="257900"/>
            <a:ext cx="695700" cy="48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1578700"/>
            <a:ext cx="8520300" cy="14139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Font typeface="Lekton"/>
              <a:buNone/>
              <a:defRPr sz="3000" b="1">
                <a:latin typeface="Lekton"/>
                <a:ea typeface="Lekton"/>
                <a:cs typeface="Lekton"/>
                <a:sym typeface="Lekton"/>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
        <p:nvSpPr>
          <p:cNvPr id="17" name="Google Shape;17;p3"/>
          <p:cNvSpPr txBox="1">
            <a:spLocks noGrp="1"/>
          </p:cNvSpPr>
          <p:nvPr>
            <p:ph type="subTitle" idx="1"/>
          </p:nvPr>
        </p:nvSpPr>
        <p:spPr>
          <a:xfrm>
            <a:off x="2250825" y="3032375"/>
            <a:ext cx="4298400" cy="359400"/>
          </a:xfrm>
          <a:prstGeom prst="rect">
            <a:avLst/>
          </a:prstGeom>
        </p:spPr>
        <p:txBody>
          <a:bodyPr spcFirstLastPara="1" wrap="square" lIns="91425" tIns="91425" rIns="91425" bIns="91425" anchor="t" anchorCtr="0">
            <a:noAutofit/>
          </a:bodyPr>
          <a:lstStyle>
            <a:lvl1pPr lvl="0">
              <a:spcBef>
                <a:spcPts val="0"/>
              </a:spcBef>
              <a:spcAft>
                <a:spcPts val="0"/>
              </a:spcAft>
              <a:buNone/>
              <a:defRPr b="1">
                <a:solidFill>
                  <a:srgbClr val="333333"/>
                </a:solidFill>
                <a:latin typeface="Titillium Web"/>
                <a:ea typeface="Titillium Web"/>
                <a:cs typeface="Titillium Web"/>
                <a:sym typeface="Titillium Web"/>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estazione della sezione 1">
  <p:cSld name="SECTION_HEADER_1">
    <p:spTree>
      <p:nvGrpSpPr>
        <p:cNvPr id="1" name="Shape 18"/>
        <p:cNvGrpSpPr/>
        <p:nvPr/>
      </p:nvGrpSpPr>
      <p:grpSpPr>
        <a:xfrm>
          <a:off x="0" y="0"/>
          <a:ext cx="0" cy="0"/>
          <a:chOff x="0" y="0"/>
          <a:chExt cx="0" cy="0"/>
        </a:xfrm>
      </p:grpSpPr>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a:t>
            </a:fld>
            <a:endParaRPr/>
          </a:p>
        </p:txBody>
      </p:sp>
      <p:sp>
        <p:nvSpPr>
          <p:cNvPr id="20" name="Google Shape;20;p4"/>
          <p:cNvSpPr txBox="1">
            <a:spLocks noGrp="1"/>
          </p:cNvSpPr>
          <p:nvPr>
            <p:ph type="body" idx="1"/>
          </p:nvPr>
        </p:nvSpPr>
        <p:spPr>
          <a:xfrm>
            <a:off x="461300" y="1594350"/>
            <a:ext cx="8221500" cy="13140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rgbClr val="333333"/>
              </a:buClr>
              <a:buSzPts val="1800"/>
              <a:buFont typeface="Lekton"/>
              <a:buChar char="●"/>
              <a:defRPr>
                <a:solidFill>
                  <a:srgbClr val="333333"/>
                </a:solidFill>
                <a:latin typeface="Lekton"/>
                <a:ea typeface="Lekton"/>
                <a:cs typeface="Lekton"/>
                <a:sym typeface="Lekton"/>
              </a:defRPr>
            </a:lvl1pPr>
            <a:lvl2pPr marL="914400" lvl="1"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2pPr>
            <a:lvl3pPr marL="1371600" lvl="2"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3pPr>
            <a:lvl4pPr marL="1828800" lvl="3"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4pPr>
            <a:lvl5pPr marL="2286000" lvl="4"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5pPr>
            <a:lvl6pPr marL="2743200" lvl="5"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6pPr>
            <a:lvl7pPr marL="3200400" lvl="6"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7pPr>
            <a:lvl8pPr marL="3657600" lvl="7"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8pPr>
            <a:lvl9pPr marL="4114800" lvl="8" indent="-317500" rtl="0">
              <a:spcBef>
                <a:spcPts val="1600"/>
              </a:spcBef>
              <a:spcAft>
                <a:spcPts val="1600"/>
              </a:spcAft>
              <a:buClr>
                <a:srgbClr val="333333"/>
              </a:buClr>
              <a:buSzPts val="1400"/>
              <a:buFont typeface="Lekton"/>
              <a:buChar char="■"/>
              <a:defRPr>
                <a:solidFill>
                  <a:srgbClr val="333333"/>
                </a:solidFill>
                <a:latin typeface="Lekton"/>
                <a:ea typeface="Lekton"/>
                <a:cs typeface="Lekton"/>
                <a:sym typeface="Lekton"/>
              </a:defRPr>
            </a:lvl9pPr>
          </a:lstStyle>
          <a:p>
            <a:endParaRPr/>
          </a:p>
        </p:txBody>
      </p:sp>
      <p:sp>
        <p:nvSpPr>
          <p:cNvPr id="21" name="Google Shape;21;p4"/>
          <p:cNvSpPr txBox="1">
            <a:spLocks noGrp="1"/>
          </p:cNvSpPr>
          <p:nvPr>
            <p:ph type="body" idx="2"/>
          </p:nvPr>
        </p:nvSpPr>
        <p:spPr>
          <a:xfrm>
            <a:off x="461250" y="3253963"/>
            <a:ext cx="8221500" cy="13140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rgbClr val="333333"/>
              </a:buClr>
              <a:buSzPts val="1800"/>
              <a:buFont typeface="Lekton"/>
              <a:buChar char="●"/>
              <a:defRPr>
                <a:solidFill>
                  <a:srgbClr val="333333"/>
                </a:solidFill>
                <a:latin typeface="Lekton"/>
                <a:ea typeface="Lekton"/>
                <a:cs typeface="Lekton"/>
                <a:sym typeface="Lekton"/>
              </a:defRPr>
            </a:lvl1pPr>
            <a:lvl2pPr marL="914400" lvl="1"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2pPr>
            <a:lvl3pPr marL="1371600" lvl="2"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3pPr>
            <a:lvl4pPr marL="1828800" lvl="3"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4pPr>
            <a:lvl5pPr marL="2286000" lvl="4"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5pPr>
            <a:lvl6pPr marL="2743200" lvl="5"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6pPr>
            <a:lvl7pPr marL="3200400" lvl="6"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7pPr>
            <a:lvl8pPr marL="3657600" lvl="7"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8pPr>
            <a:lvl9pPr marL="4114800" lvl="8" indent="-317500" rtl="0">
              <a:spcBef>
                <a:spcPts val="1600"/>
              </a:spcBef>
              <a:spcAft>
                <a:spcPts val="1600"/>
              </a:spcAft>
              <a:buClr>
                <a:srgbClr val="333333"/>
              </a:buClr>
              <a:buSzPts val="1400"/>
              <a:buFont typeface="Lekton"/>
              <a:buChar char="■"/>
              <a:defRPr>
                <a:solidFill>
                  <a:srgbClr val="333333"/>
                </a:solidFill>
                <a:latin typeface="Lekton"/>
                <a:ea typeface="Lekton"/>
                <a:cs typeface="Lekton"/>
                <a:sym typeface="Lekton"/>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sp>
        <p:nvSpPr>
          <p:cNvPr id="23" name="Google Shape;23;p5"/>
          <p:cNvSpPr/>
          <p:nvPr/>
        </p:nvSpPr>
        <p:spPr>
          <a:xfrm>
            <a:off x="4439150" y="100"/>
            <a:ext cx="4704900" cy="51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a:spLocks noGrp="1"/>
          </p:cNvSpPr>
          <p:nvPr>
            <p:ph type="body" idx="1"/>
          </p:nvPr>
        </p:nvSpPr>
        <p:spPr>
          <a:xfrm>
            <a:off x="837675" y="1656850"/>
            <a:ext cx="3288900" cy="29121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Lekton"/>
              <a:buChar char="●"/>
              <a:defRPr>
                <a:latin typeface="Lekton"/>
                <a:ea typeface="Lekton"/>
                <a:cs typeface="Lekton"/>
                <a:sym typeface="Lekton"/>
              </a:defRPr>
            </a:lvl1pPr>
            <a:lvl2pPr marL="914400" lvl="1" indent="-317500" rtl="0">
              <a:spcBef>
                <a:spcPts val="1600"/>
              </a:spcBef>
              <a:spcAft>
                <a:spcPts val="0"/>
              </a:spcAft>
              <a:buSzPts val="1400"/>
              <a:buFont typeface="Lekton"/>
              <a:buChar char="○"/>
              <a:defRPr b="1">
                <a:latin typeface="Lekton"/>
                <a:ea typeface="Lekton"/>
                <a:cs typeface="Lekton"/>
                <a:sym typeface="Lekton"/>
              </a:defRPr>
            </a:lvl2pPr>
            <a:lvl3pPr marL="1371600" lvl="2" indent="-317500" rtl="0">
              <a:spcBef>
                <a:spcPts val="1600"/>
              </a:spcBef>
              <a:spcAft>
                <a:spcPts val="0"/>
              </a:spcAft>
              <a:buSzPts val="1400"/>
              <a:buFont typeface="Lekton"/>
              <a:buChar char="■"/>
              <a:defRPr b="1">
                <a:latin typeface="Lekton"/>
                <a:ea typeface="Lekton"/>
                <a:cs typeface="Lekton"/>
                <a:sym typeface="Lekton"/>
              </a:defRPr>
            </a:lvl3pPr>
            <a:lvl4pPr marL="1828800" lvl="3" indent="-317500" rtl="0">
              <a:spcBef>
                <a:spcPts val="1600"/>
              </a:spcBef>
              <a:spcAft>
                <a:spcPts val="0"/>
              </a:spcAft>
              <a:buSzPts val="1400"/>
              <a:buFont typeface="Lekton"/>
              <a:buChar char="●"/>
              <a:defRPr b="1">
                <a:latin typeface="Lekton"/>
                <a:ea typeface="Lekton"/>
                <a:cs typeface="Lekton"/>
                <a:sym typeface="Lekton"/>
              </a:defRPr>
            </a:lvl4pPr>
            <a:lvl5pPr marL="2286000" lvl="4" indent="-317500" rtl="0">
              <a:spcBef>
                <a:spcPts val="1600"/>
              </a:spcBef>
              <a:spcAft>
                <a:spcPts val="0"/>
              </a:spcAft>
              <a:buSzPts val="1400"/>
              <a:buFont typeface="Lekton"/>
              <a:buChar char="○"/>
              <a:defRPr b="1">
                <a:latin typeface="Lekton"/>
                <a:ea typeface="Lekton"/>
                <a:cs typeface="Lekton"/>
                <a:sym typeface="Lekton"/>
              </a:defRPr>
            </a:lvl5pPr>
            <a:lvl6pPr marL="2743200" lvl="5" indent="-317500" rtl="0">
              <a:spcBef>
                <a:spcPts val="1600"/>
              </a:spcBef>
              <a:spcAft>
                <a:spcPts val="0"/>
              </a:spcAft>
              <a:buSzPts val="1400"/>
              <a:buFont typeface="Lekton"/>
              <a:buChar char="■"/>
              <a:defRPr b="1">
                <a:latin typeface="Lekton"/>
                <a:ea typeface="Lekton"/>
                <a:cs typeface="Lekton"/>
                <a:sym typeface="Lekton"/>
              </a:defRPr>
            </a:lvl6pPr>
            <a:lvl7pPr marL="3200400" lvl="6" indent="-317500" rtl="0">
              <a:spcBef>
                <a:spcPts val="1600"/>
              </a:spcBef>
              <a:spcAft>
                <a:spcPts val="0"/>
              </a:spcAft>
              <a:buSzPts val="1400"/>
              <a:buFont typeface="Lekton"/>
              <a:buChar char="●"/>
              <a:defRPr b="1">
                <a:latin typeface="Lekton"/>
                <a:ea typeface="Lekton"/>
                <a:cs typeface="Lekton"/>
                <a:sym typeface="Lekton"/>
              </a:defRPr>
            </a:lvl7pPr>
            <a:lvl8pPr marL="3657600" lvl="7" indent="-317500" rtl="0">
              <a:spcBef>
                <a:spcPts val="1600"/>
              </a:spcBef>
              <a:spcAft>
                <a:spcPts val="0"/>
              </a:spcAft>
              <a:buSzPts val="1400"/>
              <a:buFont typeface="Lekton"/>
              <a:buChar char="○"/>
              <a:defRPr b="1">
                <a:latin typeface="Lekton"/>
                <a:ea typeface="Lekton"/>
                <a:cs typeface="Lekton"/>
                <a:sym typeface="Lekton"/>
              </a:defRPr>
            </a:lvl8pPr>
            <a:lvl9pPr marL="4114800" lvl="8" indent="-317500" rtl="0">
              <a:spcBef>
                <a:spcPts val="1600"/>
              </a:spcBef>
              <a:spcAft>
                <a:spcPts val="1600"/>
              </a:spcAft>
              <a:buSzPts val="1400"/>
              <a:buFont typeface="Lekton"/>
              <a:buChar char="■"/>
              <a:defRPr b="1">
                <a:latin typeface="Lekton"/>
                <a:ea typeface="Lekton"/>
                <a:cs typeface="Lekton"/>
                <a:sym typeface="Lekton"/>
              </a:defRPr>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6"/>
          <p:cNvSpPr txBox="1">
            <a:spLocks noGrp="1"/>
          </p:cNvSpPr>
          <p:nvPr>
            <p:ph type="body" idx="1"/>
          </p:nvPr>
        </p:nvSpPr>
        <p:spPr>
          <a:xfrm>
            <a:off x="311700" y="1457275"/>
            <a:ext cx="39999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Font typeface="Lekton"/>
              <a:buChar char="●"/>
              <a:defRPr>
                <a:latin typeface="Lekton"/>
                <a:ea typeface="Lekton"/>
                <a:cs typeface="Lekton"/>
                <a:sym typeface="Lekton"/>
              </a:defRPr>
            </a:lvl1pPr>
            <a:lvl2pPr marL="914400" lvl="1" indent="-342900">
              <a:spcBef>
                <a:spcPts val="1600"/>
              </a:spcBef>
              <a:spcAft>
                <a:spcPts val="0"/>
              </a:spcAft>
              <a:buSzPts val="1800"/>
              <a:buFont typeface="Lekton"/>
              <a:buChar char="○"/>
              <a:defRPr sz="1800" b="1">
                <a:latin typeface="Lekton"/>
                <a:ea typeface="Lekton"/>
                <a:cs typeface="Lekton"/>
                <a:sym typeface="Lekton"/>
              </a:defRPr>
            </a:lvl2pPr>
            <a:lvl3pPr marL="1371600" lvl="2" indent="-342900">
              <a:spcBef>
                <a:spcPts val="1600"/>
              </a:spcBef>
              <a:spcAft>
                <a:spcPts val="0"/>
              </a:spcAft>
              <a:buSzPts val="1800"/>
              <a:buFont typeface="Lekton"/>
              <a:buChar char="■"/>
              <a:defRPr sz="1800" b="1">
                <a:latin typeface="Lekton"/>
                <a:ea typeface="Lekton"/>
                <a:cs typeface="Lekton"/>
                <a:sym typeface="Lekton"/>
              </a:defRPr>
            </a:lvl3pPr>
            <a:lvl4pPr marL="1828800" lvl="3" indent="-342900">
              <a:spcBef>
                <a:spcPts val="1600"/>
              </a:spcBef>
              <a:spcAft>
                <a:spcPts val="0"/>
              </a:spcAft>
              <a:buSzPts val="1800"/>
              <a:buFont typeface="Lekton"/>
              <a:buChar char="●"/>
              <a:defRPr sz="1800" b="1">
                <a:latin typeface="Lekton"/>
                <a:ea typeface="Lekton"/>
                <a:cs typeface="Lekton"/>
                <a:sym typeface="Lekton"/>
              </a:defRPr>
            </a:lvl4pPr>
            <a:lvl5pPr marL="2286000" lvl="4" indent="-342900">
              <a:spcBef>
                <a:spcPts val="1600"/>
              </a:spcBef>
              <a:spcAft>
                <a:spcPts val="0"/>
              </a:spcAft>
              <a:buSzPts val="1800"/>
              <a:buFont typeface="Lekton"/>
              <a:buChar char="○"/>
              <a:defRPr sz="1800" b="1">
                <a:latin typeface="Lekton"/>
                <a:ea typeface="Lekton"/>
                <a:cs typeface="Lekton"/>
                <a:sym typeface="Lekton"/>
              </a:defRPr>
            </a:lvl5pPr>
            <a:lvl6pPr marL="2743200" lvl="5" indent="-342900">
              <a:spcBef>
                <a:spcPts val="1600"/>
              </a:spcBef>
              <a:spcAft>
                <a:spcPts val="0"/>
              </a:spcAft>
              <a:buSzPts val="1800"/>
              <a:buFont typeface="Lekton"/>
              <a:buChar char="■"/>
              <a:defRPr sz="1800" b="1">
                <a:latin typeface="Lekton"/>
                <a:ea typeface="Lekton"/>
                <a:cs typeface="Lekton"/>
                <a:sym typeface="Lekton"/>
              </a:defRPr>
            </a:lvl6pPr>
            <a:lvl7pPr marL="3200400" lvl="6" indent="-342900">
              <a:spcBef>
                <a:spcPts val="1600"/>
              </a:spcBef>
              <a:spcAft>
                <a:spcPts val="0"/>
              </a:spcAft>
              <a:buSzPts val="1800"/>
              <a:buFont typeface="Lekton"/>
              <a:buChar char="●"/>
              <a:defRPr sz="1800" b="1">
                <a:latin typeface="Lekton"/>
                <a:ea typeface="Lekton"/>
                <a:cs typeface="Lekton"/>
                <a:sym typeface="Lekton"/>
              </a:defRPr>
            </a:lvl7pPr>
            <a:lvl8pPr marL="3657600" lvl="7" indent="-342900">
              <a:spcBef>
                <a:spcPts val="1600"/>
              </a:spcBef>
              <a:spcAft>
                <a:spcPts val="0"/>
              </a:spcAft>
              <a:buSzPts val="1800"/>
              <a:buFont typeface="Lekton"/>
              <a:buChar char="○"/>
              <a:defRPr sz="1800" b="1">
                <a:latin typeface="Lekton"/>
                <a:ea typeface="Lekton"/>
                <a:cs typeface="Lekton"/>
                <a:sym typeface="Lekton"/>
              </a:defRPr>
            </a:lvl8pPr>
            <a:lvl9pPr marL="4114800" lvl="8" indent="-342900">
              <a:spcBef>
                <a:spcPts val="1600"/>
              </a:spcBef>
              <a:spcAft>
                <a:spcPts val="1600"/>
              </a:spcAft>
              <a:buSzPts val="1800"/>
              <a:buFont typeface="Lekton"/>
              <a:buChar char="■"/>
              <a:defRPr sz="1800" b="1">
                <a:latin typeface="Lekton"/>
                <a:ea typeface="Lekton"/>
                <a:cs typeface="Lekton"/>
                <a:sym typeface="Lekton"/>
              </a:defRPr>
            </a:lvl9pPr>
          </a:lstStyle>
          <a:p>
            <a:endParaRPr/>
          </a:p>
        </p:txBody>
      </p:sp>
      <p:sp>
        <p:nvSpPr>
          <p:cNvPr id="28" name="Google Shape;28;p6"/>
          <p:cNvSpPr txBox="1">
            <a:spLocks noGrp="1"/>
          </p:cNvSpPr>
          <p:nvPr>
            <p:ph type="body" idx="2"/>
          </p:nvPr>
        </p:nvSpPr>
        <p:spPr>
          <a:xfrm>
            <a:off x="4832400" y="1457275"/>
            <a:ext cx="39999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Font typeface="Lekton"/>
              <a:buChar char="●"/>
              <a:defRPr>
                <a:latin typeface="Lekton"/>
                <a:ea typeface="Lekton"/>
                <a:cs typeface="Lekton"/>
                <a:sym typeface="Lekton"/>
              </a:defRPr>
            </a:lvl1pPr>
            <a:lvl2pPr marL="914400" lvl="1" indent="-342900">
              <a:spcBef>
                <a:spcPts val="1600"/>
              </a:spcBef>
              <a:spcAft>
                <a:spcPts val="0"/>
              </a:spcAft>
              <a:buSzPts val="1800"/>
              <a:buFont typeface="Lekton"/>
              <a:buChar char="○"/>
              <a:defRPr sz="1800" b="1">
                <a:latin typeface="Lekton"/>
                <a:ea typeface="Lekton"/>
                <a:cs typeface="Lekton"/>
                <a:sym typeface="Lekton"/>
              </a:defRPr>
            </a:lvl2pPr>
            <a:lvl3pPr marL="1371600" lvl="2" indent="-342900">
              <a:spcBef>
                <a:spcPts val="1600"/>
              </a:spcBef>
              <a:spcAft>
                <a:spcPts val="0"/>
              </a:spcAft>
              <a:buSzPts val="1800"/>
              <a:buFont typeface="Lekton"/>
              <a:buChar char="■"/>
              <a:defRPr sz="1800" b="1">
                <a:latin typeface="Lekton"/>
                <a:ea typeface="Lekton"/>
                <a:cs typeface="Lekton"/>
                <a:sym typeface="Lekton"/>
              </a:defRPr>
            </a:lvl3pPr>
            <a:lvl4pPr marL="1828800" lvl="3" indent="-342900">
              <a:spcBef>
                <a:spcPts val="1600"/>
              </a:spcBef>
              <a:spcAft>
                <a:spcPts val="0"/>
              </a:spcAft>
              <a:buSzPts val="1800"/>
              <a:buFont typeface="Lekton"/>
              <a:buChar char="●"/>
              <a:defRPr sz="1800" b="1">
                <a:latin typeface="Lekton"/>
                <a:ea typeface="Lekton"/>
                <a:cs typeface="Lekton"/>
                <a:sym typeface="Lekton"/>
              </a:defRPr>
            </a:lvl4pPr>
            <a:lvl5pPr marL="2286000" lvl="4" indent="-342900">
              <a:spcBef>
                <a:spcPts val="1600"/>
              </a:spcBef>
              <a:spcAft>
                <a:spcPts val="0"/>
              </a:spcAft>
              <a:buSzPts val="1800"/>
              <a:buFont typeface="Lekton"/>
              <a:buChar char="○"/>
              <a:defRPr sz="1800" b="1">
                <a:latin typeface="Lekton"/>
                <a:ea typeface="Lekton"/>
                <a:cs typeface="Lekton"/>
                <a:sym typeface="Lekton"/>
              </a:defRPr>
            </a:lvl5pPr>
            <a:lvl6pPr marL="2743200" lvl="5" indent="-342900">
              <a:spcBef>
                <a:spcPts val="1600"/>
              </a:spcBef>
              <a:spcAft>
                <a:spcPts val="0"/>
              </a:spcAft>
              <a:buSzPts val="1800"/>
              <a:buFont typeface="Lekton"/>
              <a:buChar char="■"/>
              <a:defRPr sz="1800" b="1">
                <a:latin typeface="Lekton"/>
                <a:ea typeface="Lekton"/>
                <a:cs typeface="Lekton"/>
                <a:sym typeface="Lekton"/>
              </a:defRPr>
            </a:lvl6pPr>
            <a:lvl7pPr marL="3200400" lvl="6" indent="-342900">
              <a:spcBef>
                <a:spcPts val="1600"/>
              </a:spcBef>
              <a:spcAft>
                <a:spcPts val="0"/>
              </a:spcAft>
              <a:buSzPts val="1800"/>
              <a:buFont typeface="Lekton"/>
              <a:buChar char="●"/>
              <a:defRPr sz="1800" b="1">
                <a:latin typeface="Lekton"/>
                <a:ea typeface="Lekton"/>
                <a:cs typeface="Lekton"/>
                <a:sym typeface="Lekton"/>
              </a:defRPr>
            </a:lvl7pPr>
            <a:lvl8pPr marL="3657600" lvl="7" indent="-342900">
              <a:spcBef>
                <a:spcPts val="1600"/>
              </a:spcBef>
              <a:spcAft>
                <a:spcPts val="0"/>
              </a:spcAft>
              <a:buSzPts val="1800"/>
              <a:buFont typeface="Lekton"/>
              <a:buChar char="○"/>
              <a:defRPr sz="1800" b="1">
                <a:latin typeface="Lekton"/>
                <a:ea typeface="Lekton"/>
                <a:cs typeface="Lekton"/>
                <a:sym typeface="Lekton"/>
              </a:defRPr>
            </a:lvl8pPr>
            <a:lvl9pPr marL="4114800" lvl="8" indent="-342900">
              <a:spcBef>
                <a:spcPts val="1600"/>
              </a:spcBef>
              <a:spcAft>
                <a:spcPts val="1600"/>
              </a:spcAft>
              <a:buSzPts val="1800"/>
              <a:buFont typeface="Lekton"/>
              <a:buChar char="■"/>
              <a:defRPr sz="1800" b="1">
                <a:latin typeface="Lekton"/>
                <a:ea typeface="Lekton"/>
                <a:cs typeface="Lekton"/>
                <a:sym typeface="Lekton"/>
              </a:defRPr>
            </a:lvl9pPr>
          </a:lstStyle>
          <a:p>
            <a:endParaRPr/>
          </a:p>
        </p:txBody>
      </p:sp>
      <p:sp>
        <p:nvSpPr>
          <p:cNvPr id="29" name="Google Shape;29;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olo della sezione e descrizione 1">
  <p:cSld name="SECTION_TITLE_AND_DESCRIPTION_1">
    <p:spTree>
      <p:nvGrpSpPr>
        <p:cNvPr id="1" name="Shape 32"/>
        <p:cNvGrpSpPr/>
        <p:nvPr/>
      </p:nvGrpSpPr>
      <p:grpSpPr>
        <a:xfrm>
          <a:off x="0" y="0"/>
          <a:ext cx="0" cy="0"/>
          <a:chOff x="0" y="0"/>
          <a:chExt cx="0" cy="0"/>
        </a:xfrm>
      </p:grpSpPr>
      <p:sp>
        <p:nvSpPr>
          <p:cNvPr id="33" name="Google Shape;33;p8"/>
          <p:cNvSpPr/>
          <p:nvPr/>
        </p:nvSpPr>
        <p:spPr>
          <a:xfrm>
            <a:off x="0" y="-125"/>
            <a:ext cx="9144000" cy="5143500"/>
          </a:xfrm>
          <a:prstGeom prst="rect">
            <a:avLst/>
          </a:prstGeom>
          <a:solidFill>
            <a:srgbClr val="D66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8"/>
          <p:cNvSpPr txBox="1">
            <a:spLocks noGrp="1"/>
          </p:cNvSpPr>
          <p:nvPr>
            <p:ph type="body" idx="1"/>
          </p:nvPr>
        </p:nvSpPr>
        <p:spPr>
          <a:xfrm>
            <a:off x="461300" y="724075"/>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a:t>
            </a:fld>
            <a:endParaRPr/>
          </a:p>
        </p:txBody>
      </p:sp>
      <p:sp>
        <p:nvSpPr>
          <p:cNvPr id="36" name="Google Shape;36;p8"/>
          <p:cNvSpPr txBox="1">
            <a:spLocks noGrp="1"/>
          </p:cNvSpPr>
          <p:nvPr>
            <p:ph type="body" idx="2"/>
          </p:nvPr>
        </p:nvSpPr>
        <p:spPr>
          <a:xfrm>
            <a:off x="461250" y="2869400"/>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olo della sezione e descrizione 1 1">
  <p:cSld name="SECTION_TITLE_AND_DESCRIPTION_1_1">
    <p:spTree>
      <p:nvGrpSpPr>
        <p:cNvPr id="1" name="Shape 37"/>
        <p:cNvGrpSpPr/>
        <p:nvPr/>
      </p:nvGrpSpPr>
      <p:grpSpPr>
        <a:xfrm>
          <a:off x="0" y="0"/>
          <a:ext cx="0" cy="0"/>
          <a:chOff x="0" y="0"/>
          <a:chExt cx="0" cy="0"/>
        </a:xfrm>
      </p:grpSpPr>
      <p:sp>
        <p:nvSpPr>
          <p:cNvPr id="38" name="Google Shape;3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a:t>
            </a:fld>
            <a:endParaRPr/>
          </a:p>
        </p:txBody>
      </p:sp>
      <p:pic>
        <p:nvPicPr>
          <p:cNvPr id="39" name="Google Shape;39;p9"/>
          <p:cNvPicPr preferRelativeResize="0"/>
          <p:nvPr/>
        </p:nvPicPr>
        <p:blipFill>
          <a:blip r:embed="rId2">
            <a:alphaModFix/>
          </a:blip>
          <a:stretch>
            <a:fillRect/>
          </a:stretch>
        </p:blipFill>
        <p:spPr>
          <a:xfrm>
            <a:off x="-61175" y="-96750"/>
            <a:ext cx="9386000" cy="5293650"/>
          </a:xfrm>
          <a:prstGeom prst="rect">
            <a:avLst/>
          </a:prstGeom>
          <a:noFill/>
          <a:ln>
            <a:noFill/>
          </a:ln>
        </p:spPr>
      </p:pic>
      <p:sp>
        <p:nvSpPr>
          <p:cNvPr id="40" name="Google Shape;40;p9"/>
          <p:cNvSpPr txBox="1">
            <a:spLocks noGrp="1"/>
          </p:cNvSpPr>
          <p:nvPr>
            <p:ph type="subTitle" idx="1"/>
          </p:nvPr>
        </p:nvSpPr>
        <p:spPr>
          <a:xfrm>
            <a:off x="292190" y="1258275"/>
            <a:ext cx="3016800" cy="5157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cxnSp>
        <p:nvCxnSpPr>
          <p:cNvPr id="41" name="Google Shape;41;p9"/>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42" name="Google Shape;42;p9"/>
          <p:cNvSpPr txBox="1">
            <a:spLocks noGrp="1"/>
          </p:cNvSpPr>
          <p:nvPr>
            <p:ph type="body" idx="2"/>
          </p:nvPr>
        </p:nvSpPr>
        <p:spPr>
          <a:xfrm>
            <a:off x="292200" y="2336800"/>
            <a:ext cx="3357600" cy="21648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marL="914400" lvl="1"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marL="1371600" lvl="2"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marL="1828800" lvl="3"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marL="2286000" lvl="4"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marL="2743200" lvl="5"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marL="3200400" lvl="6"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marL="3657600" lvl="7"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marL="4114800" lvl="8" indent="-3175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olo della sezione e descrizione 1 1 1">
  <p:cSld name="SECTION_TITLE_AND_DESCRIPTION_1_1_1">
    <p:spTree>
      <p:nvGrpSpPr>
        <p:cNvPr id="1" name="Shape 43"/>
        <p:cNvGrpSpPr/>
        <p:nvPr/>
      </p:nvGrpSpPr>
      <p:grpSpPr>
        <a:xfrm>
          <a:off x="0" y="0"/>
          <a:ext cx="0" cy="0"/>
          <a:chOff x="0" y="0"/>
          <a:chExt cx="0" cy="0"/>
        </a:xfrm>
      </p:grpSpPr>
      <p:cxnSp>
        <p:nvCxnSpPr>
          <p:cNvPr id="44" name="Google Shape;44;p10"/>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45" name="Google Shape;45;p10"/>
          <p:cNvSpPr/>
          <p:nvPr/>
        </p:nvSpPr>
        <p:spPr>
          <a:xfrm>
            <a:off x="-25" y="50"/>
            <a:ext cx="9144000" cy="5143500"/>
          </a:xfrm>
          <a:prstGeom prst="rect">
            <a:avLst/>
          </a:prstGeom>
          <a:solidFill>
            <a:srgbClr val="33333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10"/>
          <p:cNvSpPr txBox="1">
            <a:spLocks noGrp="1"/>
          </p:cNvSpPr>
          <p:nvPr>
            <p:ph type="body" idx="1"/>
          </p:nvPr>
        </p:nvSpPr>
        <p:spPr>
          <a:xfrm>
            <a:off x="461300" y="724075"/>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
        <p:nvSpPr>
          <p:cNvPr id="47" name="Google Shape;47;p10"/>
          <p:cNvSpPr txBox="1">
            <a:spLocks noGrp="1"/>
          </p:cNvSpPr>
          <p:nvPr>
            <p:ph type="body" idx="2"/>
          </p:nvPr>
        </p:nvSpPr>
        <p:spPr>
          <a:xfrm>
            <a:off x="461250" y="2869400"/>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olo della sezione e descrizione 1 1 1 2">
  <p:cSld name="SECTION_TITLE_AND_DESCRIPTION_1_1_1_2">
    <p:spTree>
      <p:nvGrpSpPr>
        <p:cNvPr id="1" name="Shape 48"/>
        <p:cNvGrpSpPr/>
        <p:nvPr/>
      </p:nvGrpSpPr>
      <p:grpSpPr>
        <a:xfrm>
          <a:off x="0" y="0"/>
          <a:ext cx="0" cy="0"/>
          <a:chOff x="0" y="0"/>
          <a:chExt cx="0" cy="0"/>
        </a:xfrm>
      </p:grpSpPr>
      <p:pic>
        <p:nvPicPr>
          <p:cNvPr id="49" name="Google Shape;49;p11"/>
          <p:cNvPicPr preferRelativeResize="0"/>
          <p:nvPr/>
        </p:nvPicPr>
        <p:blipFill>
          <a:blip r:embed="rId2">
            <a:alphaModFix/>
          </a:blip>
          <a:stretch>
            <a:fillRect/>
          </a:stretch>
        </p:blipFill>
        <p:spPr>
          <a:xfrm>
            <a:off x="-52275" y="-52250"/>
            <a:ext cx="9338651" cy="5266950"/>
          </a:xfrm>
          <a:prstGeom prst="rect">
            <a:avLst/>
          </a:prstGeom>
          <a:noFill/>
          <a:ln>
            <a:noFill/>
          </a:ln>
        </p:spPr>
      </p:pic>
      <p:sp>
        <p:nvSpPr>
          <p:cNvPr id="50" name="Google Shape;50;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a:t>
            </a:fld>
            <a:endParaRPr/>
          </a:p>
        </p:txBody>
      </p:sp>
      <p:sp>
        <p:nvSpPr>
          <p:cNvPr id="51" name="Google Shape;51;p11"/>
          <p:cNvSpPr txBox="1">
            <a:spLocks noGrp="1"/>
          </p:cNvSpPr>
          <p:nvPr>
            <p:ph type="subTitle" idx="1"/>
          </p:nvPr>
        </p:nvSpPr>
        <p:spPr>
          <a:xfrm>
            <a:off x="292190" y="1258275"/>
            <a:ext cx="3016800" cy="5157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cxnSp>
        <p:nvCxnSpPr>
          <p:cNvPr id="52" name="Google Shape;52;p11"/>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53" name="Google Shape;53;p11"/>
          <p:cNvSpPr txBox="1">
            <a:spLocks noGrp="1"/>
          </p:cNvSpPr>
          <p:nvPr>
            <p:ph type="body" idx="2"/>
          </p:nvPr>
        </p:nvSpPr>
        <p:spPr>
          <a:xfrm>
            <a:off x="292200" y="2336800"/>
            <a:ext cx="3357600" cy="21648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marL="914400" lvl="1"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marL="1371600" lvl="2"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marL="1828800" lvl="3"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marL="2286000" lvl="4"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marL="2743200" lvl="5"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marL="3200400" lvl="6"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marL="3657600" lvl="7"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marL="4114800" lvl="8" indent="-3175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yout personalizzato 1">
  <p:cSld name="CUSTOM">
    <p:spTree>
      <p:nvGrpSpPr>
        <p:cNvPr id="1" name="Shape 54"/>
        <p:cNvGrpSpPr/>
        <p:nvPr/>
      </p:nvGrpSpPr>
      <p:grpSpPr>
        <a:xfrm>
          <a:off x="0" y="0"/>
          <a:ext cx="0" cy="0"/>
          <a:chOff x="0" y="0"/>
          <a:chExt cx="0" cy="0"/>
        </a:xfrm>
      </p:grpSpPr>
      <p:cxnSp>
        <p:nvCxnSpPr>
          <p:cNvPr id="55" name="Google Shape;55;p12"/>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56" name="Google Shape;56;p12"/>
          <p:cNvSpPr/>
          <p:nvPr/>
        </p:nvSpPr>
        <p:spPr>
          <a:xfrm>
            <a:off x="-25" y="50"/>
            <a:ext cx="9144000" cy="5143500"/>
          </a:xfrm>
          <a:prstGeom prst="rect">
            <a:avLst/>
          </a:prstGeom>
          <a:solidFill>
            <a:srgbClr val="3C678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2"/>
          <p:cNvSpPr txBox="1">
            <a:spLocks noGrp="1"/>
          </p:cNvSpPr>
          <p:nvPr>
            <p:ph type="body" idx="1"/>
          </p:nvPr>
        </p:nvSpPr>
        <p:spPr>
          <a:xfrm>
            <a:off x="461300" y="724075"/>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
        <p:nvSpPr>
          <p:cNvPr id="58" name="Google Shape;58;p12"/>
          <p:cNvSpPr txBox="1">
            <a:spLocks noGrp="1"/>
          </p:cNvSpPr>
          <p:nvPr>
            <p:ph type="body" idx="2"/>
          </p:nvPr>
        </p:nvSpPr>
        <p:spPr>
          <a:xfrm>
            <a:off x="461250" y="2869400"/>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olo della sezione e descrizione 1 1 1 1">
  <p:cSld name="SECTION_TITLE_AND_DESCRIPTION_1_1_1_1">
    <p:spTree>
      <p:nvGrpSpPr>
        <p:cNvPr id="1" name="Shape 59"/>
        <p:cNvGrpSpPr/>
        <p:nvPr/>
      </p:nvGrpSpPr>
      <p:grpSpPr>
        <a:xfrm>
          <a:off x="0" y="0"/>
          <a:ext cx="0" cy="0"/>
          <a:chOff x="0" y="0"/>
          <a:chExt cx="0" cy="0"/>
        </a:xfrm>
      </p:grpSpPr>
      <p:pic>
        <p:nvPicPr>
          <p:cNvPr id="60" name="Google Shape;60;p13"/>
          <p:cNvPicPr preferRelativeResize="0"/>
          <p:nvPr/>
        </p:nvPicPr>
        <p:blipFill>
          <a:blip r:embed="rId2">
            <a:alphaModFix/>
          </a:blip>
          <a:stretch>
            <a:fillRect/>
          </a:stretch>
        </p:blipFill>
        <p:spPr>
          <a:xfrm>
            <a:off x="-52275" y="-70075"/>
            <a:ext cx="9354474" cy="5275875"/>
          </a:xfrm>
          <a:prstGeom prst="rect">
            <a:avLst/>
          </a:prstGeom>
          <a:noFill/>
          <a:ln>
            <a:noFill/>
          </a:ln>
        </p:spPr>
      </p:pic>
      <p:sp>
        <p:nvSpPr>
          <p:cNvPr id="61" name="Google Shape;6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a:t>
            </a:fld>
            <a:endParaRPr/>
          </a:p>
        </p:txBody>
      </p:sp>
      <p:sp>
        <p:nvSpPr>
          <p:cNvPr id="62" name="Google Shape;62;p13"/>
          <p:cNvSpPr txBox="1">
            <a:spLocks noGrp="1"/>
          </p:cNvSpPr>
          <p:nvPr>
            <p:ph type="subTitle" idx="1"/>
          </p:nvPr>
        </p:nvSpPr>
        <p:spPr>
          <a:xfrm>
            <a:off x="292190" y="1258275"/>
            <a:ext cx="3016800" cy="5157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cxnSp>
        <p:nvCxnSpPr>
          <p:cNvPr id="63" name="Google Shape;63;p13"/>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64" name="Google Shape;64;p13"/>
          <p:cNvSpPr txBox="1">
            <a:spLocks noGrp="1"/>
          </p:cNvSpPr>
          <p:nvPr>
            <p:ph type="body" idx="2"/>
          </p:nvPr>
        </p:nvSpPr>
        <p:spPr>
          <a:xfrm>
            <a:off x="292200" y="2336800"/>
            <a:ext cx="3357600" cy="21648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marL="914400" lvl="1"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marL="1371600" lvl="2"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marL="1828800" lvl="3"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marL="2286000" lvl="4"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marL="2743200" lvl="5"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marL="3200400" lvl="6"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marL="3657600" lvl="7"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marL="4114800" lvl="8" indent="-3175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ayout personalizzato 2">
  <p:cSld name="CUSTOM_1">
    <p:spTree>
      <p:nvGrpSpPr>
        <p:cNvPr id="1" name="Shape 65"/>
        <p:cNvGrpSpPr/>
        <p:nvPr/>
      </p:nvGrpSpPr>
      <p:grpSpPr>
        <a:xfrm>
          <a:off x="0" y="0"/>
          <a:ext cx="0" cy="0"/>
          <a:chOff x="0" y="0"/>
          <a:chExt cx="0" cy="0"/>
        </a:xfrm>
      </p:grpSpPr>
      <p:cxnSp>
        <p:nvCxnSpPr>
          <p:cNvPr id="66" name="Google Shape;66;p14"/>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67" name="Google Shape;67;p14"/>
          <p:cNvSpPr/>
          <p:nvPr/>
        </p:nvSpPr>
        <p:spPr>
          <a:xfrm>
            <a:off x="-25" y="50"/>
            <a:ext cx="9144000" cy="5143500"/>
          </a:xfrm>
          <a:prstGeom prst="rect">
            <a:avLst/>
          </a:prstGeom>
          <a:solidFill>
            <a:srgbClr val="8F446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4"/>
          <p:cNvSpPr txBox="1">
            <a:spLocks noGrp="1"/>
          </p:cNvSpPr>
          <p:nvPr>
            <p:ph type="body" idx="1"/>
          </p:nvPr>
        </p:nvSpPr>
        <p:spPr>
          <a:xfrm>
            <a:off x="461300" y="724075"/>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
        <p:nvSpPr>
          <p:cNvPr id="69" name="Google Shape;69;p14"/>
          <p:cNvSpPr txBox="1">
            <a:spLocks noGrp="1"/>
          </p:cNvSpPr>
          <p:nvPr>
            <p:ph type="body" idx="2"/>
          </p:nvPr>
        </p:nvSpPr>
        <p:spPr>
          <a:xfrm>
            <a:off x="461250" y="2869400"/>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olo della sezione e descrizione 1 1 1 1 1">
  <p:cSld name="SECTION_TITLE_AND_DESCRIPTION_1_1_1_1_1">
    <p:spTree>
      <p:nvGrpSpPr>
        <p:cNvPr id="1" name="Shape 70"/>
        <p:cNvGrpSpPr/>
        <p:nvPr/>
      </p:nvGrpSpPr>
      <p:grpSpPr>
        <a:xfrm>
          <a:off x="0" y="0"/>
          <a:ext cx="0" cy="0"/>
          <a:chOff x="0" y="0"/>
          <a:chExt cx="0" cy="0"/>
        </a:xfrm>
      </p:grpSpPr>
      <p:pic>
        <p:nvPicPr>
          <p:cNvPr id="71" name="Google Shape;71;p15"/>
          <p:cNvPicPr preferRelativeResize="0"/>
          <p:nvPr/>
        </p:nvPicPr>
        <p:blipFill>
          <a:blip r:embed="rId2">
            <a:alphaModFix/>
          </a:blip>
          <a:stretch>
            <a:fillRect/>
          </a:stretch>
        </p:blipFill>
        <p:spPr>
          <a:xfrm>
            <a:off x="-70075" y="-87875"/>
            <a:ext cx="9370249" cy="5284775"/>
          </a:xfrm>
          <a:prstGeom prst="rect">
            <a:avLst/>
          </a:prstGeom>
          <a:noFill/>
          <a:ln>
            <a:noFill/>
          </a:ln>
        </p:spPr>
      </p:pic>
      <p:sp>
        <p:nvSpPr>
          <p:cNvPr id="72" name="Google Shape;72;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a:t>
            </a:fld>
            <a:endParaRPr/>
          </a:p>
        </p:txBody>
      </p:sp>
      <p:sp>
        <p:nvSpPr>
          <p:cNvPr id="73" name="Google Shape;73;p15"/>
          <p:cNvSpPr txBox="1">
            <a:spLocks noGrp="1"/>
          </p:cNvSpPr>
          <p:nvPr>
            <p:ph type="subTitle" idx="1"/>
          </p:nvPr>
        </p:nvSpPr>
        <p:spPr>
          <a:xfrm>
            <a:off x="292190" y="1258275"/>
            <a:ext cx="3016800" cy="5157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cxnSp>
        <p:nvCxnSpPr>
          <p:cNvPr id="74" name="Google Shape;74;p15"/>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75" name="Google Shape;75;p15"/>
          <p:cNvSpPr txBox="1">
            <a:spLocks noGrp="1"/>
          </p:cNvSpPr>
          <p:nvPr>
            <p:ph type="body" idx="2"/>
          </p:nvPr>
        </p:nvSpPr>
        <p:spPr>
          <a:xfrm>
            <a:off x="292200" y="2336800"/>
            <a:ext cx="3357600" cy="21648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marL="914400" lvl="1"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marL="1371600" lvl="2"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marL="1828800" lvl="3"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marL="2286000" lvl="4"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marL="2743200" lvl="5"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marL="3200400" lvl="6"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marL="3657600" lvl="7"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marL="4114800" lvl="8" indent="-3175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ayout personalizzato 3">
  <p:cSld name="CUSTOM_2">
    <p:spTree>
      <p:nvGrpSpPr>
        <p:cNvPr id="1" name="Shape 76"/>
        <p:cNvGrpSpPr/>
        <p:nvPr/>
      </p:nvGrpSpPr>
      <p:grpSpPr>
        <a:xfrm>
          <a:off x="0" y="0"/>
          <a:ext cx="0" cy="0"/>
          <a:chOff x="0" y="0"/>
          <a:chExt cx="0" cy="0"/>
        </a:xfrm>
      </p:grpSpPr>
      <p:cxnSp>
        <p:nvCxnSpPr>
          <p:cNvPr id="77" name="Google Shape;77;p16"/>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78" name="Google Shape;78;p16"/>
          <p:cNvSpPr/>
          <p:nvPr/>
        </p:nvSpPr>
        <p:spPr>
          <a:xfrm>
            <a:off x="-25" y="50"/>
            <a:ext cx="9144000" cy="5143500"/>
          </a:xfrm>
          <a:prstGeom prst="rect">
            <a:avLst/>
          </a:prstGeom>
          <a:solidFill>
            <a:srgbClr val="322E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6"/>
          <p:cNvSpPr txBox="1">
            <a:spLocks noGrp="1"/>
          </p:cNvSpPr>
          <p:nvPr>
            <p:ph type="body" idx="1"/>
          </p:nvPr>
        </p:nvSpPr>
        <p:spPr>
          <a:xfrm>
            <a:off x="461300" y="724075"/>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
        <p:nvSpPr>
          <p:cNvPr id="80" name="Google Shape;80;p16"/>
          <p:cNvSpPr txBox="1">
            <a:spLocks noGrp="1"/>
          </p:cNvSpPr>
          <p:nvPr>
            <p:ph type="body" idx="2"/>
          </p:nvPr>
        </p:nvSpPr>
        <p:spPr>
          <a:xfrm>
            <a:off x="461250" y="2869400"/>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olo della sezione e descrizione 1 1 1 1 1 1">
  <p:cSld name="SECTION_TITLE_AND_DESCRIPTION_1_1_1_1_1_1">
    <p:spTree>
      <p:nvGrpSpPr>
        <p:cNvPr id="1" name="Shape 81"/>
        <p:cNvGrpSpPr/>
        <p:nvPr/>
      </p:nvGrpSpPr>
      <p:grpSpPr>
        <a:xfrm>
          <a:off x="0" y="0"/>
          <a:ext cx="0" cy="0"/>
          <a:chOff x="0" y="0"/>
          <a:chExt cx="0" cy="0"/>
        </a:xfrm>
      </p:grpSpPr>
      <p:pic>
        <p:nvPicPr>
          <p:cNvPr id="82" name="Google Shape;82;p17"/>
          <p:cNvPicPr preferRelativeResize="0"/>
          <p:nvPr/>
        </p:nvPicPr>
        <p:blipFill>
          <a:blip r:embed="rId2">
            <a:alphaModFix/>
          </a:blip>
          <a:stretch>
            <a:fillRect/>
          </a:stretch>
        </p:blipFill>
        <p:spPr>
          <a:xfrm>
            <a:off x="-52275" y="-78950"/>
            <a:ext cx="9417551" cy="5311450"/>
          </a:xfrm>
          <a:prstGeom prst="rect">
            <a:avLst/>
          </a:prstGeom>
          <a:noFill/>
          <a:ln>
            <a:noFill/>
          </a:ln>
        </p:spPr>
      </p:pic>
      <p:sp>
        <p:nvSpPr>
          <p:cNvPr id="83" name="Google Shape;83;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a:t>
            </a:fld>
            <a:endParaRPr/>
          </a:p>
        </p:txBody>
      </p:sp>
      <p:sp>
        <p:nvSpPr>
          <p:cNvPr id="84" name="Google Shape;84;p17"/>
          <p:cNvSpPr txBox="1">
            <a:spLocks noGrp="1"/>
          </p:cNvSpPr>
          <p:nvPr>
            <p:ph type="subTitle" idx="1"/>
          </p:nvPr>
        </p:nvSpPr>
        <p:spPr>
          <a:xfrm>
            <a:off x="292190" y="1258275"/>
            <a:ext cx="3016800" cy="5157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cxnSp>
        <p:nvCxnSpPr>
          <p:cNvPr id="85" name="Google Shape;85;p17"/>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86" name="Google Shape;86;p17"/>
          <p:cNvSpPr txBox="1">
            <a:spLocks noGrp="1"/>
          </p:cNvSpPr>
          <p:nvPr>
            <p:ph type="body" idx="2"/>
          </p:nvPr>
        </p:nvSpPr>
        <p:spPr>
          <a:xfrm>
            <a:off x="292200" y="2336800"/>
            <a:ext cx="3357600" cy="21648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marL="914400" lvl="1"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marL="1371600" lvl="2"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marL="1828800" lvl="3"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marL="2286000" lvl="4"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marL="2743200" lvl="5"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marL="3200400" lvl="6"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marL="3657600" lvl="7"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marL="4114800" lvl="8" indent="-3175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7"/>
        <p:cNvGrpSpPr/>
        <p:nvPr/>
      </p:nvGrpSpPr>
      <p:grpSpPr>
        <a:xfrm>
          <a:off x="0" y="0"/>
          <a:ext cx="0" cy="0"/>
          <a:chOff x="0" y="0"/>
          <a:chExt cx="0" cy="0"/>
        </a:xfrm>
      </p:grpSpPr>
      <p:sp>
        <p:nvSpPr>
          <p:cNvPr id="88" name="Google Shape;88;p18"/>
          <p:cNvSpPr txBox="1">
            <a:spLocks noGrp="1"/>
          </p:cNvSpPr>
          <p:nvPr>
            <p:ph type="body" idx="1"/>
          </p:nvPr>
        </p:nvSpPr>
        <p:spPr>
          <a:xfrm>
            <a:off x="311700" y="4230575"/>
            <a:ext cx="65814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Lekton"/>
              <a:buNone/>
              <a:defRPr b="1">
                <a:latin typeface="Lekton"/>
                <a:ea typeface="Lekton"/>
                <a:cs typeface="Lekton"/>
                <a:sym typeface="Lekton"/>
              </a:defRPr>
            </a:lvl1pPr>
          </a:lstStyle>
          <a:p>
            <a:endParaRPr/>
          </a:p>
        </p:txBody>
      </p:sp>
      <p:sp>
        <p:nvSpPr>
          <p:cNvPr id="89" name="Google Shape;89;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0"/>
        <p:cNvGrpSpPr/>
        <p:nvPr/>
      </p:nvGrpSpPr>
      <p:grpSpPr>
        <a:xfrm>
          <a:off x="0" y="0"/>
          <a:ext cx="0" cy="0"/>
          <a:chOff x="0" y="0"/>
          <a:chExt cx="0" cy="0"/>
        </a:xfrm>
      </p:grpSpPr>
      <p:sp>
        <p:nvSpPr>
          <p:cNvPr id="91" name="Google Shape;91;p19"/>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D66B55"/>
              </a:buClr>
              <a:buSzPts val="20000"/>
              <a:buFont typeface="Lekton"/>
              <a:buNone/>
              <a:defRPr sz="20000" b="1">
                <a:solidFill>
                  <a:srgbClr val="D66B55"/>
                </a:solidFill>
                <a:latin typeface="Lekton"/>
                <a:ea typeface="Lekton"/>
                <a:cs typeface="Lekton"/>
                <a:sym typeface="Lekton"/>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2" name="Google Shape;92;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
        <p:nvSpPr>
          <p:cNvPr id="93" name="Google Shape;93;p19"/>
          <p:cNvSpPr txBox="1">
            <a:spLocks noGrp="1"/>
          </p:cNvSpPr>
          <p:nvPr>
            <p:ph type="subTitle" idx="1"/>
          </p:nvPr>
        </p:nvSpPr>
        <p:spPr>
          <a:xfrm>
            <a:off x="2430575" y="2993300"/>
            <a:ext cx="4204800" cy="393600"/>
          </a:xfrm>
          <a:prstGeom prst="rect">
            <a:avLst/>
          </a:prstGeom>
        </p:spPr>
        <p:txBody>
          <a:bodyPr spcFirstLastPara="1" wrap="square" lIns="91425" tIns="91425" rIns="91425" bIns="91425" anchor="t" anchorCtr="0">
            <a:noAutofit/>
          </a:bodyPr>
          <a:lstStyle>
            <a:lvl1pPr lvl="0">
              <a:spcBef>
                <a:spcPts val="0"/>
              </a:spcBef>
              <a:spcAft>
                <a:spcPts val="0"/>
              </a:spcAft>
              <a:buNone/>
              <a:defRPr b="1">
                <a:latin typeface="Titillium Web"/>
                <a:ea typeface="Titillium Web"/>
                <a:cs typeface="Titillium Web"/>
                <a:sym typeface="Titillium Web"/>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a:endParaRPr/>
          </a:p>
        </p:txBody>
      </p:sp>
      <p:sp>
        <p:nvSpPr>
          <p:cNvPr id="94" name="Google Shape;94;p19"/>
          <p:cNvSpPr txBox="1">
            <a:spLocks noGrp="1"/>
          </p:cNvSpPr>
          <p:nvPr>
            <p:ph type="body" idx="2"/>
          </p:nvPr>
        </p:nvSpPr>
        <p:spPr>
          <a:xfrm>
            <a:off x="2430575" y="3477850"/>
            <a:ext cx="4204800" cy="11853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Font typeface="Lekton"/>
              <a:buChar char="●"/>
              <a:defRPr b="1">
                <a:latin typeface="Lekton"/>
                <a:ea typeface="Lekton"/>
                <a:cs typeface="Lekton"/>
                <a:sym typeface="Lekton"/>
              </a:defRPr>
            </a:lvl1pPr>
            <a:lvl2pPr marL="914400" lvl="1" indent="-317500">
              <a:spcBef>
                <a:spcPts val="1600"/>
              </a:spcBef>
              <a:spcAft>
                <a:spcPts val="0"/>
              </a:spcAft>
              <a:buSzPts val="1400"/>
              <a:buFont typeface="Lekton"/>
              <a:buChar char="○"/>
              <a:defRPr b="1">
                <a:latin typeface="Lekton"/>
                <a:ea typeface="Lekton"/>
                <a:cs typeface="Lekton"/>
                <a:sym typeface="Lekton"/>
              </a:defRPr>
            </a:lvl2pPr>
            <a:lvl3pPr marL="1371600" lvl="2" indent="-317500">
              <a:spcBef>
                <a:spcPts val="1600"/>
              </a:spcBef>
              <a:spcAft>
                <a:spcPts val="0"/>
              </a:spcAft>
              <a:buSzPts val="1400"/>
              <a:buFont typeface="Lekton"/>
              <a:buChar char="■"/>
              <a:defRPr b="1">
                <a:latin typeface="Lekton"/>
                <a:ea typeface="Lekton"/>
                <a:cs typeface="Lekton"/>
                <a:sym typeface="Lekton"/>
              </a:defRPr>
            </a:lvl3pPr>
            <a:lvl4pPr marL="1828800" lvl="3" indent="-317500">
              <a:spcBef>
                <a:spcPts val="1600"/>
              </a:spcBef>
              <a:spcAft>
                <a:spcPts val="0"/>
              </a:spcAft>
              <a:buSzPts val="1400"/>
              <a:buFont typeface="Lekton"/>
              <a:buChar char="●"/>
              <a:defRPr b="1">
                <a:latin typeface="Lekton"/>
                <a:ea typeface="Lekton"/>
                <a:cs typeface="Lekton"/>
                <a:sym typeface="Lekton"/>
              </a:defRPr>
            </a:lvl4pPr>
            <a:lvl5pPr marL="2286000" lvl="4" indent="-317500">
              <a:spcBef>
                <a:spcPts val="1600"/>
              </a:spcBef>
              <a:spcAft>
                <a:spcPts val="0"/>
              </a:spcAft>
              <a:buSzPts val="1400"/>
              <a:buFont typeface="Lekton"/>
              <a:buChar char="○"/>
              <a:defRPr b="1">
                <a:latin typeface="Lekton"/>
                <a:ea typeface="Lekton"/>
                <a:cs typeface="Lekton"/>
                <a:sym typeface="Lekton"/>
              </a:defRPr>
            </a:lvl5pPr>
            <a:lvl6pPr marL="2743200" lvl="5" indent="-317500">
              <a:spcBef>
                <a:spcPts val="1600"/>
              </a:spcBef>
              <a:spcAft>
                <a:spcPts val="0"/>
              </a:spcAft>
              <a:buSzPts val="1400"/>
              <a:buFont typeface="Lekton"/>
              <a:buChar char="■"/>
              <a:defRPr b="1">
                <a:latin typeface="Lekton"/>
                <a:ea typeface="Lekton"/>
                <a:cs typeface="Lekton"/>
                <a:sym typeface="Lekton"/>
              </a:defRPr>
            </a:lvl6pPr>
            <a:lvl7pPr marL="3200400" lvl="6" indent="-317500">
              <a:spcBef>
                <a:spcPts val="1600"/>
              </a:spcBef>
              <a:spcAft>
                <a:spcPts val="0"/>
              </a:spcAft>
              <a:buSzPts val="1400"/>
              <a:buFont typeface="Lekton"/>
              <a:buChar char="●"/>
              <a:defRPr b="1">
                <a:latin typeface="Lekton"/>
                <a:ea typeface="Lekton"/>
                <a:cs typeface="Lekton"/>
                <a:sym typeface="Lekton"/>
              </a:defRPr>
            </a:lvl7pPr>
            <a:lvl8pPr marL="3657600" lvl="7" indent="-317500">
              <a:spcBef>
                <a:spcPts val="1600"/>
              </a:spcBef>
              <a:spcAft>
                <a:spcPts val="0"/>
              </a:spcAft>
              <a:buSzPts val="1400"/>
              <a:buFont typeface="Lekton"/>
              <a:buChar char="○"/>
              <a:defRPr b="1">
                <a:latin typeface="Lekton"/>
                <a:ea typeface="Lekton"/>
                <a:cs typeface="Lekton"/>
                <a:sym typeface="Lekton"/>
              </a:defRPr>
            </a:lvl8pPr>
            <a:lvl9pPr marL="4114800" lvl="8" indent="-317500">
              <a:spcBef>
                <a:spcPts val="1600"/>
              </a:spcBef>
              <a:spcAft>
                <a:spcPts val="1600"/>
              </a:spcAft>
              <a:buSzPts val="1400"/>
              <a:buFont typeface="Lekton"/>
              <a:buChar char="■"/>
              <a:defRPr b="1">
                <a:latin typeface="Lekton"/>
                <a:ea typeface="Lekton"/>
                <a:cs typeface="Lekton"/>
                <a:sym typeface="Lekton"/>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flip="none" rotWithShape="1">
          <a:gsLst>
            <a:gs pos="0">
              <a:schemeClr val="accent5">
                <a:lumMod val="5000"/>
                <a:lumOff val="95000"/>
              </a:schemeClr>
            </a:gs>
            <a:gs pos="22000">
              <a:schemeClr val="accent5">
                <a:lumMod val="45000"/>
                <a:lumOff val="55000"/>
              </a:schemeClr>
            </a:gs>
            <a:gs pos="83000">
              <a:schemeClr val="accent5">
                <a:lumMod val="45000"/>
                <a:lumOff val="55000"/>
              </a:schemeClr>
            </a:gs>
            <a:gs pos="100000">
              <a:srgbClr val="00B0F0">
                <a:lumMod val="75000"/>
                <a:lumOff val="25000"/>
              </a:srgbClr>
            </a:gs>
          </a:gsLst>
          <a:lin ang="3600000" scaled="0"/>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it"/>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data.worldbank.org/indicator/NY.GDP.MKTP.PP.CD" TargetMode="External"/><Relationship Id="rId7" Type="http://schemas.openxmlformats.org/officeDocument/2006/relationships/hyperlink" Target="https://data.worldbank.org/indicator/NV.IND.TOTL.ZS"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hyperlink" Target="https://data-explorer.oecd.org/vis?lc=en&amp;df%5bds%5d=dsDisseminateFinalDMZ&amp;df%5bid%5d=DSD_EAG_LSO_EA%40DF_LSO_EARN_ALL&amp;df%5bag%5d=OECD.EDU.IMEP&amp;df%5bvs%5d=1.0&amp;dq=AUS%2BAUT%2BBEL%2BCAN%2BCHL%2BCOL%2BCRI%2BCZE%2BDNK%2BEST%2BFIN%2BFRA%2BDEU%2BGRC%2BHUN%2BIRL%2BISR%2BITA%2BJPN%2BKOR%2BLVA%2BLTU%2BLUX%2BMEX%2BNLD%2BNZL%2BNOR%2BPOL%2BPRT%2BSVK%2BSVN%2BESP%2BSWE%2BCHE%2BTUR%2BGBR%2BUSA%2BARG%2BBRA%2BBGR%2BPER%2BROU%2BZAF._T.Y25T34%2BY25T64%2BY35T44%2BY45T54%2BY55T64.ISCED11A_5T8.F05T07............&amp;pd=2000%2C2025&amp;to%5bTIME_PERIOD%5d=false" TargetMode="External"/><Relationship Id="rId5" Type="http://schemas.openxmlformats.org/officeDocument/2006/relationships/hyperlink" Target="https://data-explorer.oecd.org/vis?fs%5b0%5d=Topic%2C1%7CEducation%20and%20skills%23EDU%23%7CStudents%23EDU_STU%23&amp;pg=0&amp;fc=Topic&amp;bp=true&amp;snb=31&amp;df%5bds%5d=dsDisseminateFinalDMZ&amp;df%5bid%5d=DSD_EAG_UOE_NON_FIN_STUD%40DF_UOE_NF_DIST_FIELD&amp;df%5bag%5d=OECD.EDU.IMEP&amp;df%5bvs%5d=1.0&amp;dq=.......A.......&amp;pd=%2C&amp;to%5bTIME_PERIOD%5d=false&amp;lb=bt&amp;vw=tb" TargetMode="External"/><Relationship Id="rId4" Type="http://schemas.openxmlformats.org/officeDocument/2006/relationships/hyperlink" Target="https://data-explorer.oecd.org/vis?df%5bds%5d=DisseminateFinalDMZ&amp;df%5bid%5d=DSD_TAX_WAGES_COMP%40DF_TW_COMP&amp;df%5bag%5d=OECD.CTP.TPS&amp;dq=.AV_TW..S_C0.AW100._Z.A&amp;lom=LASTNPERIODS&amp;lo=10&amp;to%5bTIME_PERIOD%5d=false&amp;vw=tb"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3"/>
          <p:cNvSpPr txBox="1"/>
          <p:nvPr/>
        </p:nvSpPr>
        <p:spPr>
          <a:xfrm>
            <a:off x="1277000" y="700450"/>
            <a:ext cx="2128500" cy="145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23"/>
          <p:cNvSpPr txBox="1">
            <a:spLocks noGrp="1"/>
          </p:cNvSpPr>
          <p:nvPr>
            <p:ph type="ctrTitle"/>
          </p:nvPr>
        </p:nvSpPr>
        <p:spPr>
          <a:xfrm>
            <a:off x="-12900" y="207900"/>
            <a:ext cx="4584900" cy="81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t" sz="1800"/>
              <a:t>Data Visualization Pitch</a:t>
            </a:r>
            <a:endParaRPr sz="1800"/>
          </a:p>
          <a:p>
            <a:pPr marL="0" lvl="0" indent="0" algn="ctr" rtl="0">
              <a:lnSpc>
                <a:spcPct val="115000"/>
              </a:lnSpc>
              <a:spcBef>
                <a:spcPts val="0"/>
              </a:spcBef>
              <a:spcAft>
                <a:spcPts val="1600"/>
              </a:spcAft>
              <a:buNone/>
            </a:pPr>
            <a:r>
              <a:rPr lang="it" sz="1400">
                <a:solidFill>
                  <a:srgbClr val="D66B55"/>
                </a:solidFill>
                <a:latin typeface="Titillium Web"/>
                <a:ea typeface="Titillium Web"/>
                <a:cs typeface="Titillium Web"/>
                <a:sym typeface="Titillium Web"/>
              </a:rPr>
              <a:t>Student  Individual Assignment</a:t>
            </a:r>
            <a:endParaRPr sz="1800"/>
          </a:p>
        </p:txBody>
      </p:sp>
      <p:sp>
        <p:nvSpPr>
          <p:cNvPr id="117" name="Google Shape;117;p23"/>
          <p:cNvSpPr txBox="1"/>
          <p:nvPr/>
        </p:nvSpPr>
        <p:spPr>
          <a:xfrm>
            <a:off x="4559225" y="4275600"/>
            <a:ext cx="4584900" cy="7569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it" b="1">
                <a:latin typeface="Titillium Web"/>
                <a:ea typeface="Titillium Web"/>
                <a:cs typeface="Titillium Web"/>
                <a:sym typeface="Titillium Web"/>
              </a:rPr>
              <a:t>                  Student </a:t>
            </a:r>
            <a:r>
              <a:rPr lang="it" b="1" dirty="0">
                <a:latin typeface="Titillium Web"/>
                <a:ea typeface="Titillium Web"/>
                <a:cs typeface="Titillium Web"/>
                <a:sym typeface="Titillium Web"/>
              </a:rPr>
              <a:t>name</a:t>
            </a:r>
            <a:r>
              <a:rPr lang="it" b="1">
                <a:latin typeface="Titillium Web"/>
                <a:ea typeface="Titillium Web"/>
                <a:cs typeface="Titillium Web"/>
                <a:sym typeface="Titillium Web"/>
              </a:rPr>
              <a:t>: </a:t>
            </a:r>
            <a:r>
              <a:rPr lang="en-US" altLang="zh-CN" b="1">
                <a:solidFill>
                  <a:srgbClr val="D66B55"/>
                </a:solidFill>
                <a:latin typeface="Titillium Web"/>
                <a:ea typeface="Titillium Web"/>
                <a:cs typeface="Titillium Web"/>
                <a:sym typeface="Titillium Web"/>
              </a:rPr>
              <a:t>Hao Li</a:t>
            </a:r>
            <a:endParaRPr b="1" dirty="0">
              <a:solidFill>
                <a:srgbClr val="D66B55"/>
              </a:solidFill>
              <a:latin typeface="Titillium Web"/>
              <a:ea typeface="Titillium Web"/>
              <a:cs typeface="Titillium Web"/>
              <a:sym typeface="Titillium Web"/>
            </a:endParaRPr>
          </a:p>
          <a:p>
            <a:pPr marL="0" lvl="0" indent="0" rtl="0">
              <a:spcBef>
                <a:spcPts val="0"/>
              </a:spcBef>
              <a:spcAft>
                <a:spcPts val="0"/>
              </a:spcAft>
              <a:buClr>
                <a:schemeClr val="dk1"/>
              </a:buClr>
              <a:buSzPts val="1100"/>
              <a:buFont typeface="Arial"/>
              <a:buNone/>
            </a:pPr>
            <a:r>
              <a:rPr lang="it" b="1">
                <a:solidFill>
                  <a:schemeClr val="dk1"/>
                </a:solidFill>
                <a:latin typeface="Titillium Web"/>
                <a:ea typeface="Titillium Web"/>
                <a:cs typeface="Titillium Web"/>
                <a:sym typeface="Titillium Web"/>
              </a:rPr>
              <a:t>                         Student </a:t>
            </a:r>
            <a:r>
              <a:rPr lang="it" b="1" dirty="0">
                <a:solidFill>
                  <a:schemeClr val="dk1"/>
                </a:solidFill>
                <a:latin typeface="Titillium Web"/>
                <a:ea typeface="Titillium Web"/>
                <a:cs typeface="Titillium Web"/>
                <a:sym typeface="Titillium Web"/>
              </a:rPr>
              <a:t>ID: </a:t>
            </a:r>
            <a:r>
              <a:rPr lang="it" b="1" dirty="0">
                <a:solidFill>
                  <a:srgbClr val="D66B55"/>
                </a:solidFill>
                <a:latin typeface="Titillium Web"/>
                <a:ea typeface="Titillium Web"/>
                <a:cs typeface="Titillium Web"/>
                <a:sym typeface="Titillium Web"/>
              </a:rPr>
              <a:t>947013</a:t>
            </a:r>
            <a:endParaRPr b="1" dirty="0">
              <a:solidFill>
                <a:srgbClr val="D66B55"/>
              </a:solidFill>
              <a:latin typeface="Titillium Web"/>
              <a:ea typeface="Titillium Web"/>
              <a:cs typeface="Titillium Web"/>
              <a:sym typeface="Titillium Web"/>
            </a:endParaRPr>
          </a:p>
          <a:p>
            <a:pPr marL="0" lvl="0" indent="0" rtl="0">
              <a:spcBef>
                <a:spcPts val="0"/>
              </a:spcBef>
              <a:spcAft>
                <a:spcPts val="0"/>
              </a:spcAft>
              <a:buClr>
                <a:schemeClr val="dk1"/>
              </a:buClr>
              <a:buSzPts val="1100"/>
              <a:buFont typeface="Arial"/>
              <a:buNone/>
            </a:pPr>
            <a:r>
              <a:rPr lang="it" b="1" dirty="0">
                <a:solidFill>
                  <a:schemeClr val="dk1"/>
                </a:solidFill>
                <a:latin typeface="Titillium Web"/>
                <a:ea typeface="Titillium Web"/>
                <a:cs typeface="Titillium Web"/>
                <a:sym typeface="Titillium Web"/>
              </a:rPr>
              <a:t>Student e-mail address: </a:t>
            </a:r>
            <a:r>
              <a:rPr lang="it" b="1" dirty="0">
                <a:solidFill>
                  <a:srgbClr val="D66B55"/>
                </a:solidFill>
                <a:latin typeface="Titillium Web"/>
                <a:ea typeface="Titillium Web"/>
                <a:cs typeface="Titillium Web"/>
                <a:sym typeface="Titillium Web"/>
              </a:rPr>
              <a:t>l.hao1@campus.unimib.it</a:t>
            </a:r>
            <a:endParaRPr b="1" dirty="0">
              <a:solidFill>
                <a:srgbClr val="D66B55"/>
              </a:solidFill>
              <a:latin typeface="Titillium Web"/>
              <a:ea typeface="Titillium Web"/>
              <a:cs typeface="Titillium Web"/>
              <a:sym typeface="Titillium Web"/>
            </a:endParaRPr>
          </a:p>
          <a:p>
            <a:pPr marL="0" lvl="0" indent="0" rtl="0">
              <a:spcBef>
                <a:spcPts val="0"/>
              </a:spcBef>
              <a:spcAft>
                <a:spcPts val="0"/>
              </a:spcAft>
              <a:buNone/>
            </a:pPr>
            <a:endParaRPr b="1" dirty="0">
              <a:latin typeface="Titillium Web"/>
              <a:ea typeface="Titillium Web"/>
              <a:cs typeface="Titillium Web"/>
              <a:sym typeface="Titillium Web"/>
            </a:endParaRPr>
          </a:p>
        </p:txBody>
      </p:sp>
      <p:cxnSp>
        <p:nvCxnSpPr>
          <p:cNvPr id="118" name="Google Shape;118;p23"/>
          <p:cNvCxnSpPr/>
          <p:nvPr/>
        </p:nvCxnSpPr>
        <p:spPr>
          <a:xfrm>
            <a:off x="4572000" y="0"/>
            <a:ext cx="0" cy="5134500"/>
          </a:xfrm>
          <a:prstGeom prst="straightConnector1">
            <a:avLst/>
          </a:prstGeom>
          <a:noFill/>
          <a:ln w="9525" cap="flat" cmpd="sng">
            <a:solidFill>
              <a:srgbClr val="B7B7B7"/>
            </a:solidFill>
            <a:prstDash val="solid"/>
            <a:round/>
            <a:headEnd type="none" w="med" len="med"/>
            <a:tailEnd type="none" w="med" len="med"/>
          </a:ln>
        </p:spPr>
      </p:cxnSp>
      <p:sp>
        <p:nvSpPr>
          <p:cNvPr id="119" name="Google Shape;119;p23"/>
          <p:cNvSpPr txBox="1"/>
          <p:nvPr/>
        </p:nvSpPr>
        <p:spPr>
          <a:xfrm>
            <a:off x="4559100" y="1398750"/>
            <a:ext cx="4584900" cy="2441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zh-CN" sz="4200" b="1">
                <a:latin typeface="Lekton"/>
                <a:ea typeface="Lekton"/>
                <a:cs typeface="Lekton"/>
                <a:sym typeface="Lekton"/>
              </a:rPr>
              <a:t>Talents, Industry, and Richness: How are they related?</a:t>
            </a:r>
            <a:endParaRPr sz="4200" b="1">
              <a:solidFill>
                <a:srgbClr val="000000"/>
              </a:solidFill>
              <a:latin typeface="Lekton"/>
              <a:ea typeface="Lekton"/>
              <a:cs typeface="Lekton"/>
              <a:sym typeface="Lekton"/>
            </a:endParaRPr>
          </a:p>
        </p:txBody>
      </p:sp>
      <p:pic>
        <p:nvPicPr>
          <p:cNvPr id="2" name="图片 1" descr="图表, 散点图&#10;&#10;AI 生成的内容可能不正确。">
            <a:extLst>
              <a:ext uri="{FF2B5EF4-FFF2-40B4-BE49-F238E27FC236}">
                <a16:creationId xmlns:a16="http://schemas.microsoft.com/office/drawing/2014/main" id="{2A22B11C-FC61-433E-93E0-8BCB65731956}"/>
              </a:ext>
            </a:extLst>
          </p:cNvPr>
          <p:cNvPicPr>
            <a:picLocks noChangeAspect="1"/>
          </p:cNvPicPr>
          <p:nvPr/>
        </p:nvPicPr>
        <p:blipFill>
          <a:blip r:embed="rId3"/>
          <a:stretch>
            <a:fillRect/>
          </a:stretch>
        </p:blipFill>
        <p:spPr>
          <a:xfrm>
            <a:off x="203450" y="820018"/>
            <a:ext cx="4353722" cy="2441399"/>
          </a:xfrm>
          <a:prstGeom prst="rect">
            <a:avLst/>
          </a:prstGeom>
          <a:effectLst>
            <a:glow rad="63500">
              <a:schemeClr val="accent5">
                <a:satMod val="175000"/>
                <a:alpha val="40000"/>
              </a:schemeClr>
            </a:glo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p:nvPr/>
        </p:nvSpPr>
        <p:spPr>
          <a:xfrm>
            <a:off x="540000" y="384724"/>
            <a:ext cx="8010000" cy="4427907"/>
          </a:xfrm>
          <a:prstGeom prst="rect">
            <a:avLst/>
          </a:prstGeom>
          <a:noFill/>
          <a:ln>
            <a:noFill/>
          </a:ln>
        </p:spPr>
        <p:txBody>
          <a:bodyPr spcFirstLastPara="1" wrap="square" lIns="0" tIns="0" rIns="0" bIns="0" anchor="t" anchorCtr="0">
            <a:noAutofit/>
          </a:bodyPr>
          <a:lstStyle/>
          <a:p>
            <a:pPr marL="0" lvl="0" indent="0" algn="ctr" rtl="0">
              <a:lnSpc>
                <a:spcPct val="115000"/>
              </a:lnSpc>
              <a:spcBef>
                <a:spcPts val="0"/>
              </a:spcBef>
              <a:spcAft>
                <a:spcPts val="0"/>
              </a:spcAft>
              <a:buNone/>
            </a:pPr>
            <a:r>
              <a:rPr lang="it" sz="1800" b="1" dirty="0">
                <a:solidFill>
                  <a:srgbClr val="D66B55"/>
                </a:solidFill>
                <a:latin typeface="Lekton"/>
                <a:ea typeface="Lekton"/>
                <a:cs typeface="Lekton"/>
                <a:sym typeface="Lekton"/>
              </a:rPr>
              <a:t>Research questions</a:t>
            </a:r>
            <a:endParaRPr sz="1800" b="1" dirty="0">
              <a:solidFill>
                <a:srgbClr val="D66B55"/>
              </a:solidFill>
              <a:latin typeface="Lekton"/>
              <a:ea typeface="Lekton"/>
              <a:cs typeface="Lekton"/>
              <a:sym typeface="Lekton"/>
            </a:endParaRPr>
          </a:p>
          <a:p>
            <a:pPr marL="0" lvl="0" indent="0" algn="l" rtl="0">
              <a:lnSpc>
                <a:spcPct val="115000"/>
              </a:lnSpc>
              <a:spcBef>
                <a:spcPts val="1000"/>
              </a:spcBef>
              <a:spcAft>
                <a:spcPts val="0"/>
              </a:spcAft>
              <a:buNone/>
            </a:pPr>
            <a:r>
              <a:rPr lang="en-US" b="1">
                <a:solidFill>
                  <a:srgbClr val="333333"/>
                </a:solidFill>
                <a:latin typeface="Lekton"/>
                <a:ea typeface="Lekton"/>
                <a:cs typeface="Lekton"/>
                <a:sym typeface="Lekton"/>
              </a:rPr>
              <a:t>Purchasing power</a:t>
            </a:r>
            <a:r>
              <a:rPr lang="en-US">
                <a:solidFill>
                  <a:srgbClr val="333333"/>
                </a:solidFill>
                <a:latin typeface="Lekton"/>
                <a:ea typeface="Lekton"/>
                <a:cs typeface="Lekton"/>
                <a:sym typeface="Lekton"/>
              </a:rPr>
              <a:t>, </a:t>
            </a:r>
            <a:r>
              <a:rPr lang="en-US" b="1">
                <a:solidFill>
                  <a:srgbClr val="333333"/>
                </a:solidFill>
                <a:latin typeface="Lekton"/>
                <a:ea typeface="Lekton"/>
                <a:cs typeface="Lekton"/>
                <a:sym typeface="Lekton"/>
              </a:rPr>
              <a:t>share of STEM students</a:t>
            </a:r>
            <a:r>
              <a:rPr lang="en-US">
                <a:solidFill>
                  <a:srgbClr val="333333"/>
                </a:solidFill>
                <a:latin typeface="Lekton"/>
                <a:ea typeface="Lekton"/>
                <a:cs typeface="Lekton"/>
                <a:sym typeface="Lekton"/>
              </a:rPr>
              <a:t>, </a:t>
            </a:r>
            <a:r>
              <a:rPr lang="en-US" b="1">
                <a:solidFill>
                  <a:srgbClr val="333333"/>
                </a:solidFill>
                <a:latin typeface="Lekton"/>
                <a:ea typeface="Lekton"/>
                <a:cs typeface="Lekton"/>
                <a:sym typeface="Lekton"/>
              </a:rPr>
              <a:t>Earnings</a:t>
            </a:r>
            <a:r>
              <a:rPr lang="en-US">
                <a:solidFill>
                  <a:srgbClr val="333333"/>
                </a:solidFill>
                <a:latin typeface="Lekton"/>
                <a:ea typeface="Lekton"/>
                <a:cs typeface="Lekton"/>
                <a:sym typeface="Lekton"/>
              </a:rPr>
              <a:t>, </a:t>
            </a:r>
            <a:r>
              <a:rPr lang="en-US" b="1">
                <a:solidFill>
                  <a:srgbClr val="333333"/>
                </a:solidFill>
                <a:latin typeface="Lekton"/>
                <a:ea typeface="Lekton"/>
                <a:cs typeface="Lekton"/>
                <a:sym typeface="Lekton"/>
              </a:rPr>
              <a:t>Tax</a:t>
            </a:r>
            <a:r>
              <a:rPr lang="en-US">
                <a:solidFill>
                  <a:srgbClr val="333333"/>
                </a:solidFill>
                <a:latin typeface="Lekton"/>
                <a:ea typeface="Lekton"/>
                <a:cs typeface="Lekton"/>
                <a:sym typeface="Lekton"/>
              </a:rPr>
              <a:t>, </a:t>
            </a:r>
            <a:r>
              <a:rPr lang="en-US" b="1">
                <a:solidFill>
                  <a:srgbClr val="333333"/>
                </a:solidFill>
                <a:latin typeface="Lekton"/>
                <a:ea typeface="Lekton"/>
                <a:cs typeface="Lekton"/>
                <a:sym typeface="Lekton"/>
              </a:rPr>
              <a:t>the development of industry</a:t>
            </a:r>
            <a:r>
              <a:rPr lang="en-US">
                <a:solidFill>
                  <a:srgbClr val="333333"/>
                </a:solidFill>
                <a:latin typeface="Lekton"/>
                <a:ea typeface="Lekton"/>
                <a:cs typeface="Lekton"/>
                <a:sym typeface="Lekton"/>
              </a:rPr>
              <a:t> of a country, all these concepts are concerned by people everyday, </a:t>
            </a:r>
            <a:r>
              <a:rPr lang="en-US" b="1">
                <a:solidFill>
                  <a:srgbClr val="333333"/>
                </a:solidFill>
                <a:latin typeface="Lekton"/>
                <a:ea typeface="Lekton"/>
                <a:cs typeface="Lekton"/>
                <a:sym typeface="Lekton"/>
              </a:rPr>
              <a:t>how are these concepts related to each other?</a:t>
            </a:r>
            <a:r>
              <a:rPr lang="en-US">
                <a:solidFill>
                  <a:srgbClr val="333333"/>
                </a:solidFill>
                <a:latin typeface="Lekton"/>
                <a:ea typeface="Lekton"/>
                <a:cs typeface="Lekton"/>
                <a:sym typeface="Lekton"/>
              </a:rPr>
              <a:t> This research is aimed at showing people intuitions about those concepts.</a:t>
            </a:r>
          </a:p>
          <a:p>
            <a:pPr marL="457200" lvl="0" indent="-317500" algn="l" rtl="0">
              <a:lnSpc>
                <a:spcPct val="115000"/>
              </a:lnSpc>
              <a:spcBef>
                <a:spcPts val="1000"/>
              </a:spcBef>
              <a:spcAft>
                <a:spcPts val="0"/>
              </a:spcAft>
              <a:buClr>
                <a:srgbClr val="333333"/>
              </a:buClr>
              <a:buSzPts val="1400"/>
              <a:buFont typeface="Lekton"/>
              <a:buChar char="●"/>
            </a:pPr>
            <a:r>
              <a:rPr lang="en-US" b="1">
                <a:solidFill>
                  <a:srgbClr val="333333"/>
                </a:solidFill>
                <a:latin typeface="Lekton"/>
                <a:ea typeface="Lekton"/>
                <a:cs typeface="Lekton"/>
                <a:sym typeface="Lekton"/>
              </a:rPr>
              <a:t>Are the share of STEM students, or their salary level, related to the development of the industry of a country?</a:t>
            </a:r>
          </a:p>
          <a:p>
            <a:pPr marL="139700" lvl="0" algn="l" rtl="0">
              <a:lnSpc>
                <a:spcPct val="115000"/>
              </a:lnSpc>
              <a:spcAft>
                <a:spcPts val="0"/>
              </a:spcAft>
              <a:buClr>
                <a:srgbClr val="333333"/>
              </a:buClr>
              <a:buSzPts val="1400"/>
            </a:pPr>
            <a:r>
              <a:rPr lang="en-US" sz="1200" i="1">
                <a:solidFill>
                  <a:srgbClr val="333333"/>
                </a:solidFill>
                <a:latin typeface="Lekton"/>
                <a:ea typeface="Lekton"/>
                <a:cs typeface="Lekton"/>
                <a:sym typeface="Lekton"/>
              </a:rPr>
              <a:t>    </a:t>
            </a:r>
            <a:r>
              <a:rPr lang="en-US" sz="1200">
                <a:solidFill>
                  <a:srgbClr val="333333"/>
                </a:solidFill>
                <a:latin typeface="Lekton"/>
                <a:ea typeface="Lekton"/>
                <a:cs typeface="Lekton"/>
                <a:sym typeface="Lekton"/>
              </a:rPr>
              <a:t>Will the development of industry get improvement if there are more STEM students? Does the industry level imply a higher salary premium?</a:t>
            </a:r>
          </a:p>
          <a:p>
            <a:pPr marL="139700" lvl="0" algn="l" rtl="0">
              <a:lnSpc>
                <a:spcPct val="115000"/>
              </a:lnSpc>
              <a:spcAft>
                <a:spcPts val="0"/>
              </a:spcAft>
              <a:buClr>
                <a:srgbClr val="333333"/>
              </a:buClr>
              <a:buSzPts val="1400"/>
            </a:pPr>
            <a:endParaRPr sz="1200" i="1" dirty="0">
              <a:solidFill>
                <a:srgbClr val="333333"/>
              </a:solidFill>
              <a:latin typeface="Lekton"/>
              <a:ea typeface="Lekton"/>
              <a:cs typeface="Lekton"/>
              <a:sym typeface="Lekton"/>
            </a:endParaRPr>
          </a:p>
          <a:p>
            <a:pPr marL="457200" lvl="0" indent="-317500" algn="l" rtl="0">
              <a:lnSpc>
                <a:spcPct val="115000"/>
              </a:lnSpc>
              <a:spcBef>
                <a:spcPts val="0"/>
              </a:spcBef>
              <a:spcAft>
                <a:spcPts val="0"/>
              </a:spcAft>
              <a:buClr>
                <a:srgbClr val="333333"/>
              </a:buClr>
              <a:buSzPts val="1400"/>
              <a:buFont typeface="Lekton"/>
              <a:buChar char="●"/>
            </a:pPr>
            <a:r>
              <a:rPr lang="it" b="1">
                <a:solidFill>
                  <a:srgbClr val="333333"/>
                </a:solidFill>
                <a:latin typeface="Lekton"/>
                <a:ea typeface="Lekton"/>
                <a:cs typeface="Lekton"/>
                <a:sym typeface="Lekton"/>
              </a:rPr>
              <a:t>Is there a relation between purchasing power and the share of STEM students? And What about purchasing power after tax, and salary premium?</a:t>
            </a:r>
          </a:p>
          <a:p>
            <a:pPr marL="139700" lvl="1">
              <a:lnSpc>
                <a:spcPct val="115000"/>
              </a:lnSpc>
              <a:buClr>
                <a:srgbClr val="333333"/>
              </a:buClr>
              <a:buSzPts val="1400"/>
            </a:pPr>
            <a:r>
              <a:rPr lang="it" sz="1100" i="1">
                <a:solidFill>
                  <a:srgbClr val="333333"/>
                </a:solidFill>
                <a:latin typeface="Lekton"/>
                <a:ea typeface="Lekton"/>
                <a:cs typeface="Lekton"/>
                <a:sym typeface="Lekton"/>
              </a:rPr>
              <a:t>     </a:t>
            </a:r>
            <a:r>
              <a:rPr lang="it" sz="1100">
                <a:solidFill>
                  <a:srgbClr val="333333"/>
                </a:solidFill>
                <a:latin typeface="Lekton"/>
                <a:ea typeface="Lekton"/>
                <a:cs typeface="Lekton"/>
                <a:sym typeface="Lekton"/>
              </a:rPr>
              <a:t>It is because the country enriched by industry, or people are not willing to study STEM when they’re too rich? It is average purchasing power, or purchaing power after tax, that is affecting the share of STEM students? Or just salary premium affects it?</a:t>
            </a:r>
          </a:p>
          <a:p>
            <a:pPr marL="139700" lvl="1">
              <a:lnSpc>
                <a:spcPct val="115000"/>
              </a:lnSpc>
              <a:buClr>
                <a:srgbClr val="333333"/>
              </a:buClr>
              <a:buSzPts val="1400"/>
            </a:pPr>
            <a:endParaRPr sz="1100" i="1" dirty="0">
              <a:solidFill>
                <a:srgbClr val="333333"/>
              </a:solidFill>
              <a:latin typeface="Lekton"/>
              <a:ea typeface="Lekton"/>
              <a:cs typeface="Lekton"/>
              <a:sym typeface="Lekton"/>
            </a:endParaRPr>
          </a:p>
          <a:p>
            <a:pPr marL="457200" lvl="0" indent="-317500" algn="l" rtl="0">
              <a:lnSpc>
                <a:spcPct val="115000"/>
              </a:lnSpc>
              <a:spcBef>
                <a:spcPts val="0"/>
              </a:spcBef>
              <a:spcAft>
                <a:spcPts val="0"/>
              </a:spcAft>
              <a:buClr>
                <a:srgbClr val="333333"/>
              </a:buClr>
              <a:buSzPts val="1400"/>
              <a:buFont typeface="Lekton"/>
              <a:buChar char="●"/>
            </a:pPr>
            <a:r>
              <a:rPr lang="it" b="1">
                <a:solidFill>
                  <a:srgbClr val="333333"/>
                </a:solidFill>
                <a:latin typeface="Lekton"/>
                <a:ea typeface="Lekton"/>
                <a:cs typeface="Lekton"/>
                <a:sym typeface="Lekton"/>
              </a:rPr>
              <a:t>Does the taxing rate itself affect the development of industry of a country?</a:t>
            </a:r>
          </a:p>
          <a:p>
            <a:pPr marL="139700" lvl="0" algn="l" rtl="0">
              <a:lnSpc>
                <a:spcPct val="115000"/>
              </a:lnSpc>
              <a:spcBef>
                <a:spcPts val="0"/>
              </a:spcBef>
              <a:spcAft>
                <a:spcPts val="0"/>
              </a:spcAft>
              <a:buClr>
                <a:srgbClr val="333333"/>
              </a:buClr>
              <a:buSzPts val="1400"/>
            </a:pPr>
            <a:r>
              <a:rPr lang="it" sz="1100" b="1" i="1">
                <a:solidFill>
                  <a:srgbClr val="333333"/>
                </a:solidFill>
                <a:latin typeface="Lekton"/>
                <a:ea typeface="Lekton"/>
                <a:cs typeface="Lekton"/>
                <a:sym typeface="Lekton"/>
              </a:rPr>
              <a:t>    </a:t>
            </a:r>
            <a:r>
              <a:rPr lang="it" sz="1100">
                <a:solidFill>
                  <a:srgbClr val="333333"/>
                </a:solidFill>
                <a:latin typeface="Lekton"/>
                <a:ea typeface="Lekton"/>
                <a:cs typeface="Lekton"/>
                <a:sym typeface="Lekton"/>
              </a:rPr>
              <a:t>Will tax imporve or foster the development of industry?</a:t>
            </a:r>
            <a:endParaRPr dirty="0">
              <a:solidFill>
                <a:srgbClr val="333333"/>
              </a:solidFill>
              <a:latin typeface="Lekton"/>
              <a:ea typeface="Lekton"/>
              <a:cs typeface="Lekton"/>
              <a:sym typeface="Lekto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9"/>
          <p:cNvSpPr txBox="1"/>
          <p:nvPr/>
        </p:nvSpPr>
        <p:spPr>
          <a:xfrm>
            <a:off x="540000" y="384725"/>
            <a:ext cx="8010000" cy="3176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it" sz="1800" b="1">
                <a:solidFill>
                  <a:srgbClr val="D66B55"/>
                </a:solidFill>
                <a:latin typeface="Lekton"/>
                <a:ea typeface="Lekton"/>
                <a:cs typeface="Lekton"/>
                <a:sym typeface="Lekton"/>
              </a:rPr>
              <a:t>About Data</a:t>
            </a:r>
            <a:endParaRPr sz="1800" b="1">
              <a:solidFill>
                <a:srgbClr val="D66B55"/>
              </a:solidFill>
              <a:latin typeface="Lekton"/>
              <a:ea typeface="Lekton"/>
              <a:cs typeface="Lekton"/>
              <a:sym typeface="Lekton"/>
            </a:endParaRPr>
          </a:p>
          <a:p>
            <a:pPr marL="457200" lvl="0" indent="-317500">
              <a:spcBef>
                <a:spcPts val="1000"/>
              </a:spcBef>
              <a:buClr>
                <a:srgbClr val="333333"/>
              </a:buClr>
              <a:buSzPts val="1400"/>
              <a:buFont typeface="Lekton"/>
              <a:buChar char="-"/>
            </a:pPr>
            <a:r>
              <a:rPr lang="it" altLang="zh-CN" b="1">
                <a:solidFill>
                  <a:srgbClr val="333333"/>
                </a:solidFill>
                <a:latin typeface="Lekton"/>
                <a:ea typeface="Lekton"/>
                <a:cs typeface="Lekton"/>
                <a:sym typeface="Lekton"/>
              </a:rPr>
              <a:t>Data</a:t>
            </a:r>
            <a:r>
              <a:rPr lang="it" b="1">
                <a:solidFill>
                  <a:srgbClr val="333333"/>
                </a:solidFill>
                <a:latin typeface="Lekton"/>
                <a:ea typeface="Lekton"/>
                <a:cs typeface="Lekton"/>
                <a:sym typeface="Lekton"/>
              </a:rPr>
              <a:t> Searching:</a:t>
            </a:r>
            <a:r>
              <a:rPr lang="zh-CN" altLang="en-US">
                <a:solidFill>
                  <a:srgbClr val="333333"/>
                </a:solidFill>
                <a:latin typeface="Lekton"/>
                <a:ea typeface="Lekton"/>
                <a:cs typeface="Lekton"/>
                <a:sym typeface="Lekton"/>
              </a:rPr>
              <a:t> </a:t>
            </a:r>
            <a:r>
              <a:rPr lang="en-US" altLang="zh-CN">
                <a:solidFill>
                  <a:srgbClr val="333333"/>
                </a:solidFill>
                <a:latin typeface="Lekton"/>
                <a:ea typeface="Lekton"/>
                <a:cs typeface="Lekton"/>
                <a:sym typeface="Lekton"/>
              </a:rPr>
              <a:t>My initial intention was “</a:t>
            </a:r>
            <a:r>
              <a:rPr lang="en-US" altLang="zh-CN" b="1">
                <a:solidFill>
                  <a:srgbClr val="333333"/>
                </a:solidFill>
                <a:latin typeface="Lekton"/>
                <a:ea typeface="Lekton"/>
                <a:cs typeface="Lekton"/>
                <a:sym typeface="Lekton"/>
              </a:rPr>
              <a:t>story-driven</a:t>
            </a:r>
            <a:r>
              <a:rPr lang="en-US" altLang="zh-CN">
                <a:solidFill>
                  <a:srgbClr val="333333"/>
                </a:solidFill>
                <a:latin typeface="Lekton"/>
                <a:ea typeface="Lekton"/>
                <a:cs typeface="Lekton"/>
                <a:sym typeface="Lekton"/>
              </a:rPr>
              <a:t>”, so I firstly decided a list of data needed, and then searched on Google, but soonly I found it was very difficult to collect just right data, after several cycle of revising and collecting, I finally collected enough data on </a:t>
            </a:r>
            <a:r>
              <a:rPr lang="en-US" altLang="zh-CN" b="1">
                <a:solidFill>
                  <a:srgbClr val="333333"/>
                </a:solidFill>
                <a:latin typeface="Lekton"/>
                <a:ea typeface="Lekton"/>
                <a:cs typeface="Lekton"/>
                <a:sym typeface="Lekton"/>
              </a:rPr>
              <a:t>WorldBank and OECD</a:t>
            </a:r>
            <a:r>
              <a:rPr lang="en-US" altLang="zh-CN">
                <a:solidFill>
                  <a:srgbClr val="333333"/>
                </a:solidFill>
                <a:latin typeface="Lekton"/>
                <a:ea typeface="Lekton"/>
                <a:cs typeface="Lekton"/>
                <a:sym typeface="Lekton"/>
              </a:rPr>
              <a:t>.</a:t>
            </a:r>
            <a:endParaRPr>
              <a:solidFill>
                <a:srgbClr val="333333"/>
              </a:solidFill>
              <a:latin typeface="Lekton"/>
              <a:ea typeface="Lekton"/>
              <a:cs typeface="Lekton"/>
              <a:sym typeface="Lekton"/>
            </a:endParaRPr>
          </a:p>
          <a:p>
            <a:pPr marL="457200" lvl="0" indent="-317500" algn="l" rtl="0">
              <a:spcBef>
                <a:spcPts val="0"/>
              </a:spcBef>
              <a:spcAft>
                <a:spcPts val="0"/>
              </a:spcAft>
              <a:buClr>
                <a:srgbClr val="333333"/>
              </a:buClr>
              <a:buSzPts val="1400"/>
              <a:buFont typeface="Lekton"/>
              <a:buChar char="-"/>
            </a:pPr>
            <a:r>
              <a:rPr lang="it" altLang="zh-CN" b="1">
                <a:solidFill>
                  <a:srgbClr val="333333"/>
                </a:solidFill>
                <a:latin typeface="Lekton"/>
                <a:ea typeface="Lekton"/>
                <a:cs typeface="Lekton"/>
                <a:sym typeface="Lekton"/>
              </a:rPr>
              <a:t>Dataset Used: </a:t>
            </a:r>
            <a:r>
              <a:rPr lang="en-US" altLang="zh-CN">
                <a:solidFill>
                  <a:srgbClr val="333333"/>
                </a:solidFill>
                <a:latin typeface="Lekton"/>
                <a:ea typeface="Lekton"/>
                <a:cs typeface="Lekton"/>
                <a:sym typeface="Lekton"/>
              </a:rPr>
              <a:t>Since there are too many of them, I put the data scoures in the </a:t>
            </a:r>
            <a:r>
              <a:rPr lang="en-US" altLang="zh-CN">
                <a:solidFill>
                  <a:srgbClr val="333333"/>
                </a:solidFill>
                <a:latin typeface="Lekton"/>
                <a:ea typeface="Lekton"/>
                <a:cs typeface="Lekton"/>
                <a:sym typeface="Lekton"/>
                <a:hlinkClick r:id="rId3" action="ppaction://hlinksldjump"/>
              </a:rPr>
              <a:t>Appendix</a:t>
            </a:r>
            <a:r>
              <a:rPr lang="en-US" altLang="zh-CN">
                <a:solidFill>
                  <a:srgbClr val="333333"/>
                </a:solidFill>
                <a:latin typeface="Lekton"/>
                <a:ea typeface="Lekton"/>
                <a:cs typeface="Lekton"/>
                <a:sym typeface="Lekton"/>
              </a:rPr>
              <a:t> page.</a:t>
            </a:r>
          </a:p>
          <a:p>
            <a:pPr marL="457200" lvl="0" indent="-317500" algn="l" rtl="0">
              <a:spcBef>
                <a:spcPts val="0"/>
              </a:spcBef>
              <a:spcAft>
                <a:spcPts val="0"/>
              </a:spcAft>
              <a:buClr>
                <a:srgbClr val="333333"/>
              </a:buClr>
              <a:buSzPts val="1400"/>
              <a:buFont typeface="Lekton"/>
              <a:buChar char="-"/>
            </a:pPr>
            <a:r>
              <a:rPr lang="en-US" b="1">
                <a:solidFill>
                  <a:srgbClr val="333333"/>
                </a:solidFill>
                <a:latin typeface="Lekton"/>
                <a:ea typeface="Lekton"/>
                <a:cs typeface="Lekton"/>
                <a:sym typeface="Lekton"/>
              </a:rPr>
              <a:t>About the License</a:t>
            </a:r>
            <a:r>
              <a:rPr lang="en-US">
                <a:solidFill>
                  <a:srgbClr val="333333"/>
                </a:solidFill>
                <a:latin typeface="Lekton"/>
                <a:ea typeface="Lekton"/>
                <a:cs typeface="Lekton"/>
                <a:sym typeface="Lekton"/>
              </a:rPr>
              <a:t>: The data are all share under License of </a:t>
            </a:r>
            <a:r>
              <a:rPr lang="en-US" b="1">
                <a:solidFill>
                  <a:srgbClr val="333333"/>
                </a:solidFill>
                <a:latin typeface="Lekton"/>
                <a:ea typeface="Lekton"/>
                <a:cs typeface="Lekton"/>
                <a:sym typeface="Lekton"/>
              </a:rPr>
              <a:t>(CC-BY 4.0), </a:t>
            </a:r>
            <a:r>
              <a:rPr lang="en-US">
                <a:solidFill>
                  <a:srgbClr val="333333"/>
                </a:solidFill>
                <a:latin typeface="Lekton"/>
                <a:ea typeface="Lekton"/>
                <a:cs typeface="Lekton"/>
                <a:sym typeface="Lekton"/>
              </a:rPr>
              <a:t>claimed by World Bank and OECD. This mean I can copy, modify and distribute data in any format for any purpose, including commercial use, and of course to make derivative work, as long as I claim the data source.</a:t>
            </a:r>
            <a:endParaRPr>
              <a:solidFill>
                <a:srgbClr val="333333"/>
              </a:solidFill>
              <a:latin typeface="Lekton"/>
              <a:ea typeface="Lekton"/>
              <a:cs typeface="Lekton"/>
              <a:sym typeface="Lekton"/>
            </a:endParaRPr>
          </a:p>
          <a:p>
            <a:pPr marL="457200" indent="-317500">
              <a:buClr>
                <a:srgbClr val="333333"/>
              </a:buClr>
              <a:buSzPts val="1400"/>
              <a:buFont typeface="Lekton"/>
              <a:buChar char="-"/>
            </a:pPr>
            <a:r>
              <a:rPr lang="it" b="1">
                <a:solidFill>
                  <a:srgbClr val="333333"/>
                </a:solidFill>
                <a:latin typeface="Lekton"/>
                <a:ea typeface="Lekton"/>
                <a:cs typeface="Lekton"/>
                <a:sym typeface="Lekton"/>
              </a:rPr>
              <a:t>Quality and Completeness</a:t>
            </a:r>
            <a:r>
              <a:rPr lang="it">
                <a:solidFill>
                  <a:srgbClr val="333333"/>
                </a:solidFill>
                <a:latin typeface="Lekton"/>
                <a:ea typeface="Lekton"/>
                <a:cs typeface="Lekton"/>
                <a:sym typeface="Lekton"/>
              </a:rPr>
              <a:t>: Most of situations, the data are </a:t>
            </a:r>
            <a:r>
              <a:rPr lang="en-US" altLang="zh-CN">
                <a:solidFill>
                  <a:srgbClr val="333333"/>
                </a:solidFill>
                <a:latin typeface="Lekton"/>
                <a:ea typeface="Lekton"/>
                <a:cs typeface="Lekton"/>
                <a:sym typeface="Lekton"/>
              </a:rPr>
              <a:t>of </a:t>
            </a:r>
            <a:r>
              <a:rPr lang="it">
                <a:solidFill>
                  <a:srgbClr val="333333"/>
                </a:solidFill>
                <a:latin typeface="Lekton"/>
                <a:ea typeface="Lekton"/>
                <a:cs typeface="Lekton"/>
                <a:sym typeface="Lekton"/>
              </a:rPr>
              <a:t>high quality, but there are still many gaps and obviously outliers. I have to delete many rows, and for </a:t>
            </a:r>
            <a:r>
              <a:rPr lang="it" altLang="zh-CN">
                <a:solidFill>
                  <a:srgbClr val="333333"/>
                </a:solidFill>
                <a:latin typeface="Lekton"/>
                <a:ea typeface="Lekton"/>
                <a:cs typeface="Lekton"/>
                <a:sym typeface="Lekton"/>
              </a:rPr>
              <a:t>some missing values, I used </a:t>
            </a:r>
            <a:r>
              <a:rPr lang="it" altLang="zh-CN" b="1">
                <a:solidFill>
                  <a:srgbClr val="333333"/>
                </a:solidFill>
                <a:latin typeface="Lekton"/>
                <a:ea typeface="Lekton"/>
                <a:cs typeface="Lekton"/>
                <a:sym typeface="Lekton"/>
              </a:rPr>
              <a:t>forward fill</a:t>
            </a:r>
            <a:r>
              <a:rPr lang="it" altLang="zh-CN">
                <a:solidFill>
                  <a:srgbClr val="333333"/>
                </a:solidFill>
                <a:latin typeface="Lekton"/>
                <a:ea typeface="Lekton"/>
                <a:cs typeface="Lekton"/>
                <a:sym typeface="Lekton"/>
              </a:rPr>
              <a:t> and </a:t>
            </a:r>
            <a:r>
              <a:rPr lang="it" altLang="zh-CN" b="1">
                <a:solidFill>
                  <a:srgbClr val="333333"/>
                </a:solidFill>
                <a:latin typeface="Lekton"/>
                <a:ea typeface="Lekton"/>
                <a:cs typeface="Lekton"/>
                <a:sym typeface="Lekton"/>
              </a:rPr>
              <a:t>linear regression </a:t>
            </a:r>
            <a:r>
              <a:rPr lang="it" altLang="zh-CN">
                <a:solidFill>
                  <a:srgbClr val="333333"/>
                </a:solidFill>
                <a:latin typeface="Lekton"/>
                <a:ea typeface="Lekton"/>
                <a:cs typeface="Lekton"/>
                <a:sym typeface="Lekton"/>
              </a:rPr>
              <a:t>to fill a proper value. For obviously abnormal values (taxing rate of Colombia is zero), I </a:t>
            </a:r>
            <a:r>
              <a:rPr lang="it" altLang="zh-CN" b="1">
                <a:solidFill>
                  <a:srgbClr val="333333"/>
                </a:solidFill>
                <a:latin typeface="Lekton"/>
                <a:ea typeface="Lekton"/>
                <a:cs typeface="Lekton"/>
                <a:sym typeface="Lekton"/>
              </a:rPr>
              <a:t>manually vertificate</a:t>
            </a:r>
            <a:r>
              <a:rPr lang="it" altLang="zh-CN">
                <a:solidFill>
                  <a:srgbClr val="333333"/>
                </a:solidFill>
                <a:latin typeface="Lekton"/>
                <a:ea typeface="Lekton"/>
                <a:cs typeface="Lekton"/>
                <a:sym typeface="Lekton"/>
              </a:rPr>
              <a:t> the data from other source, shockingly found it is true.</a:t>
            </a:r>
          </a:p>
          <a:p>
            <a:pPr marL="457200" lvl="0" indent="-317500" algn="l" rtl="0">
              <a:spcBef>
                <a:spcPts val="0"/>
              </a:spcBef>
              <a:spcAft>
                <a:spcPts val="0"/>
              </a:spcAft>
              <a:buClr>
                <a:srgbClr val="333333"/>
              </a:buClr>
              <a:buSzPts val="1400"/>
              <a:buFont typeface="Lekton"/>
              <a:buChar char="-"/>
            </a:pPr>
            <a:endParaRPr lang="it">
              <a:solidFill>
                <a:srgbClr val="333333"/>
              </a:solidFill>
              <a:latin typeface="Lekton"/>
              <a:ea typeface="Lekton"/>
              <a:cs typeface="Lekton"/>
              <a:sym typeface="Lekton"/>
            </a:endParaRPr>
          </a:p>
          <a:p>
            <a:pPr marL="457200" lvl="0" indent="-317500" algn="l" rtl="0">
              <a:spcBef>
                <a:spcPts val="0"/>
              </a:spcBef>
              <a:spcAft>
                <a:spcPts val="0"/>
              </a:spcAft>
              <a:buClr>
                <a:srgbClr val="333333"/>
              </a:buClr>
              <a:buSzPts val="1400"/>
              <a:buFont typeface="Lekton"/>
              <a:buChar char="-"/>
            </a:pPr>
            <a:r>
              <a:rPr lang="it" b="1">
                <a:solidFill>
                  <a:srgbClr val="333333"/>
                </a:solidFill>
                <a:latin typeface="Lekton"/>
                <a:ea typeface="Lekton"/>
                <a:cs typeface="Lekton"/>
                <a:sym typeface="Lekton"/>
              </a:rPr>
              <a:t>Data Cleaning</a:t>
            </a:r>
            <a:r>
              <a:rPr lang="it">
                <a:solidFill>
                  <a:srgbClr val="333333"/>
                </a:solidFill>
                <a:latin typeface="Lekton"/>
                <a:ea typeface="Lekton"/>
                <a:cs typeface="Lekton"/>
                <a:sym typeface="Lekton"/>
              </a:rPr>
              <a:t>: Most of cleaning work are deleting rows or filling missing values, which has been stated above.</a:t>
            </a:r>
            <a:endParaRPr>
              <a:solidFill>
                <a:srgbClr val="333333"/>
              </a:solidFill>
              <a:latin typeface="Lekton"/>
              <a:ea typeface="Lekton"/>
              <a:cs typeface="Lekton"/>
              <a:sym typeface="Lekto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0"/>
          <p:cNvSpPr txBox="1"/>
          <p:nvPr/>
        </p:nvSpPr>
        <p:spPr>
          <a:xfrm>
            <a:off x="540000" y="384725"/>
            <a:ext cx="8010000" cy="3176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it" sz="1800" b="1">
                <a:solidFill>
                  <a:srgbClr val="D66B55"/>
                </a:solidFill>
                <a:latin typeface="Lekton"/>
                <a:ea typeface="Lekton"/>
                <a:cs typeface="Lekton"/>
                <a:sym typeface="Lekton"/>
              </a:rPr>
              <a:t>Methodology</a:t>
            </a:r>
            <a:endParaRPr sz="1800" b="1">
              <a:solidFill>
                <a:srgbClr val="D66B55"/>
              </a:solidFill>
              <a:latin typeface="Lekton"/>
              <a:ea typeface="Lekton"/>
              <a:cs typeface="Lekton"/>
              <a:sym typeface="Lekton"/>
            </a:endParaRPr>
          </a:p>
          <a:p>
            <a:pPr marL="457200" indent="-317500">
              <a:spcBef>
                <a:spcPts val="1000"/>
              </a:spcBef>
              <a:buClr>
                <a:srgbClr val="333333"/>
              </a:buClr>
              <a:buSzPts val="1400"/>
              <a:buFont typeface="Lekton"/>
              <a:buChar char="-"/>
            </a:pPr>
            <a:r>
              <a:rPr lang="it" b="1">
                <a:solidFill>
                  <a:srgbClr val="333333"/>
                </a:solidFill>
                <a:latin typeface="Lekton"/>
                <a:ea typeface="Lekton"/>
                <a:cs typeface="Lekton"/>
                <a:sym typeface="Lekton"/>
              </a:rPr>
              <a:t>Data Collection:</a:t>
            </a:r>
            <a:r>
              <a:rPr lang="it">
                <a:solidFill>
                  <a:srgbClr val="333333"/>
                </a:solidFill>
                <a:latin typeface="Lekton"/>
                <a:ea typeface="Lekton"/>
                <a:cs typeface="Lekton"/>
                <a:sym typeface="Lekton"/>
              </a:rPr>
              <a:t> I </a:t>
            </a:r>
            <a:r>
              <a:rPr lang="it" b="1">
                <a:solidFill>
                  <a:srgbClr val="333333"/>
                </a:solidFill>
                <a:latin typeface="Lekton"/>
                <a:ea typeface="Lekton"/>
                <a:cs typeface="Lekton"/>
                <a:sym typeface="Lekton"/>
              </a:rPr>
              <a:t>manually downloaded </a:t>
            </a:r>
            <a:r>
              <a:rPr lang="it">
                <a:solidFill>
                  <a:srgbClr val="333333"/>
                </a:solidFill>
                <a:latin typeface="Lekton"/>
                <a:ea typeface="Lekton"/>
                <a:cs typeface="Lekton"/>
                <a:sym typeface="Lekton"/>
              </a:rPr>
              <a:t>the data from multiple sources, there’s no need of APIs or scrapers, since luckly both WordBank and OECD database provide data explorer to select data </a:t>
            </a:r>
            <a:r>
              <a:rPr lang="it" altLang="zh-CN">
                <a:solidFill>
                  <a:srgbClr val="333333"/>
                </a:solidFill>
                <a:latin typeface="Lekton"/>
                <a:ea typeface="Lekton"/>
                <a:cs typeface="Lekton"/>
                <a:sym typeface="Lekton"/>
              </a:rPr>
              <a:t>easily</a:t>
            </a:r>
            <a:r>
              <a:rPr lang="it">
                <a:solidFill>
                  <a:srgbClr val="333333"/>
                </a:solidFill>
                <a:latin typeface="Lekton"/>
                <a:ea typeface="Lekton"/>
                <a:cs typeface="Lekton"/>
                <a:sym typeface="Lekton"/>
              </a:rPr>
              <a:t>.</a:t>
            </a:r>
            <a:endParaRPr>
              <a:solidFill>
                <a:srgbClr val="333333"/>
              </a:solidFill>
              <a:latin typeface="Lekton"/>
              <a:ea typeface="Lekton"/>
              <a:cs typeface="Lekton"/>
              <a:sym typeface="Lekton"/>
            </a:endParaRPr>
          </a:p>
          <a:p>
            <a:pPr marL="457200" lvl="0" indent="-317500" algn="l" rtl="0">
              <a:spcBef>
                <a:spcPts val="1000"/>
              </a:spcBef>
              <a:spcAft>
                <a:spcPts val="0"/>
              </a:spcAft>
              <a:buClr>
                <a:srgbClr val="333333"/>
              </a:buClr>
              <a:buSzPts val="1400"/>
              <a:buFont typeface="Lekton"/>
              <a:buChar char="-"/>
            </a:pPr>
            <a:r>
              <a:rPr lang="it" b="1">
                <a:solidFill>
                  <a:srgbClr val="333333"/>
                </a:solidFill>
                <a:latin typeface="Lekton"/>
                <a:ea typeface="Lekton"/>
                <a:cs typeface="Lekton"/>
                <a:sym typeface="Lekton"/>
              </a:rPr>
              <a:t>Data Processing &amp; Cleaning:</a:t>
            </a:r>
            <a:r>
              <a:rPr lang="it">
                <a:solidFill>
                  <a:srgbClr val="333333"/>
                </a:solidFill>
                <a:latin typeface="Lekton"/>
                <a:ea typeface="Lekton"/>
                <a:cs typeface="Lekton"/>
                <a:sym typeface="Lekton"/>
              </a:rPr>
              <a:t> For the reason of reproducibility, all the operations on dataset are made by Python, I developed Python in </a:t>
            </a:r>
            <a:r>
              <a:rPr lang="it" b="1">
                <a:solidFill>
                  <a:srgbClr val="333333"/>
                </a:solidFill>
                <a:latin typeface="Lekton"/>
                <a:ea typeface="Lekton"/>
                <a:cs typeface="Lekton"/>
                <a:sym typeface="Lekton"/>
              </a:rPr>
              <a:t>Pycharm</a:t>
            </a:r>
            <a:r>
              <a:rPr lang="it">
                <a:solidFill>
                  <a:srgbClr val="333333"/>
                </a:solidFill>
                <a:latin typeface="Lekton"/>
                <a:ea typeface="Lekton"/>
                <a:cs typeface="Lekton"/>
                <a:sym typeface="Lekton"/>
              </a:rPr>
              <a:t> and </a:t>
            </a:r>
            <a:r>
              <a:rPr lang="it" b="1">
                <a:solidFill>
                  <a:srgbClr val="333333"/>
                </a:solidFill>
                <a:latin typeface="Lekton"/>
                <a:ea typeface="Lekton"/>
                <a:cs typeface="Lekton"/>
                <a:sym typeface="Lekton"/>
              </a:rPr>
              <a:t>Jupyter notebook</a:t>
            </a:r>
            <a:r>
              <a:rPr lang="it">
                <a:solidFill>
                  <a:srgbClr val="333333"/>
                </a:solidFill>
                <a:latin typeface="Lekton"/>
                <a:ea typeface="Lekton"/>
                <a:cs typeface="Lekton"/>
                <a:sym typeface="Lekton"/>
              </a:rPr>
              <a:t>. I also used packages like </a:t>
            </a:r>
            <a:r>
              <a:rPr lang="it" b="1">
                <a:solidFill>
                  <a:srgbClr val="333333"/>
                </a:solidFill>
                <a:latin typeface="Lekton"/>
                <a:ea typeface="Lekton"/>
                <a:cs typeface="Lekton"/>
                <a:sym typeface="Lekton"/>
              </a:rPr>
              <a:t>pandas</a:t>
            </a:r>
            <a:r>
              <a:rPr lang="it">
                <a:solidFill>
                  <a:srgbClr val="333333"/>
                </a:solidFill>
                <a:latin typeface="Lekton"/>
                <a:ea typeface="Lekton"/>
                <a:cs typeface="Lekton"/>
                <a:sym typeface="Lekton"/>
              </a:rPr>
              <a:t>, </a:t>
            </a:r>
            <a:r>
              <a:rPr lang="it" b="1">
                <a:solidFill>
                  <a:srgbClr val="333333"/>
                </a:solidFill>
                <a:latin typeface="Lekton"/>
                <a:ea typeface="Lekton"/>
                <a:cs typeface="Lekton"/>
                <a:sym typeface="Lekton"/>
              </a:rPr>
              <a:t>numpy</a:t>
            </a:r>
            <a:r>
              <a:rPr lang="it">
                <a:solidFill>
                  <a:srgbClr val="333333"/>
                </a:solidFill>
                <a:latin typeface="Lekton"/>
                <a:ea typeface="Lekton"/>
                <a:cs typeface="Lekton"/>
                <a:sym typeface="Lekton"/>
              </a:rPr>
              <a:t> to process the data. and </a:t>
            </a:r>
            <a:r>
              <a:rPr lang="it" b="1">
                <a:solidFill>
                  <a:srgbClr val="333333"/>
                </a:solidFill>
                <a:latin typeface="Lekton"/>
                <a:ea typeface="Lekton"/>
                <a:cs typeface="Lekton"/>
                <a:sym typeface="Lekton"/>
              </a:rPr>
              <a:t>matplotlib</a:t>
            </a:r>
            <a:r>
              <a:rPr lang="it">
                <a:solidFill>
                  <a:srgbClr val="333333"/>
                </a:solidFill>
                <a:latin typeface="Lekton"/>
                <a:ea typeface="Lekton"/>
                <a:cs typeface="Lekton"/>
                <a:sym typeface="Lekton"/>
              </a:rPr>
              <a:t> to generate the charts and figures. </a:t>
            </a:r>
          </a:p>
          <a:p>
            <a:pPr marL="457200" lvl="0" indent="-317500" algn="l" rtl="0">
              <a:spcBef>
                <a:spcPts val="1000"/>
              </a:spcBef>
              <a:spcAft>
                <a:spcPts val="0"/>
              </a:spcAft>
              <a:buClr>
                <a:srgbClr val="333333"/>
              </a:buClr>
              <a:buSzPts val="1400"/>
              <a:buFont typeface="Lekton"/>
              <a:buChar char="-"/>
            </a:pPr>
            <a:r>
              <a:rPr lang="en-US" b="1">
                <a:solidFill>
                  <a:srgbClr val="333333"/>
                </a:solidFill>
                <a:latin typeface="Lekton"/>
                <a:ea typeface="Lekton"/>
                <a:cs typeface="Lekton"/>
                <a:sym typeface="Lekton"/>
              </a:rPr>
              <a:t>Data Transformation:</a:t>
            </a:r>
            <a:r>
              <a:rPr lang="en-US">
                <a:solidFill>
                  <a:srgbClr val="333333"/>
                </a:solidFill>
                <a:latin typeface="Lekton"/>
                <a:ea typeface="Lekton"/>
                <a:cs typeface="Lekton"/>
                <a:sym typeface="Lekton"/>
              </a:rPr>
              <a:t> I merged different sourse of data to form a wide table, which is mainly performed by </a:t>
            </a:r>
            <a:r>
              <a:rPr lang="en-US" b="1">
                <a:solidFill>
                  <a:srgbClr val="333333"/>
                </a:solidFill>
                <a:latin typeface="Lekton"/>
                <a:ea typeface="Lekton"/>
                <a:cs typeface="Lekton"/>
                <a:sym typeface="Lekton"/>
              </a:rPr>
              <a:t>double-key merging</a:t>
            </a:r>
            <a:r>
              <a:rPr lang="en-US">
                <a:solidFill>
                  <a:srgbClr val="333333"/>
                </a:solidFill>
                <a:latin typeface="Lekton"/>
                <a:ea typeface="Lekton"/>
                <a:cs typeface="Lekton"/>
                <a:sym typeface="Lekton"/>
              </a:rPr>
              <a:t>, I used left-merging to add new blocks gradually, and finally formed a big wide table. Finally, I </a:t>
            </a:r>
            <a:r>
              <a:rPr lang="en-US" b="1">
                <a:solidFill>
                  <a:srgbClr val="333333"/>
                </a:solidFill>
                <a:latin typeface="Lekton"/>
                <a:ea typeface="Lekton"/>
                <a:cs typeface="Lekton"/>
                <a:sym typeface="Lekton"/>
              </a:rPr>
              <a:t>aggregated</a:t>
            </a:r>
            <a:r>
              <a:rPr lang="en-US">
                <a:solidFill>
                  <a:srgbClr val="333333"/>
                </a:solidFill>
                <a:latin typeface="Lekton"/>
                <a:ea typeface="Lekton"/>
                <a:cs typeface="Lekton"/>
                <a:sym typeface="Lekton"/>
              </a:rPr>
              <a:t> the wide table by Year through </a:t>
            </a:r>
            <a:r>
              <a:rPr lang="en-US" b="1">
                <a:solidFill>
                  <a:srgbClr val="333333"/>
                </a:solidFill>
                <a:latin typeface="Lekton"/>
                <a:ea typeface="Lekton"/>
                <a:cs typeface="Lekton"/>
                <a:sym typeface="Lekton"/>
              </a:rPr>
              <a:t>time-weighted average</a:t>
            </a:r>
            <a:r>
              <a:rPr lang="en-US">
                <a:solidFill>
                  <a:srgbClr val="333333"/>
                </a:solidFill>
                <a:latin typeface="Lekton"/>
                <a:ea typeface="Lekton"/>
                <a:cs typeface="Lekton"/>
                <a:sym typeface="Lekton"/>
              </a:rPr>
              <a:t>, this is aimed at improving data steability and not wasting information. </a:t>
            </a:r>
          </a:p>
          <a:p>
            <a:pPr marL="457200" lvl="0" indent="-317500" algn="l" rtl="0">
              <a:spcBef>
                <a:spcPts val="1000"/>
              </a:spcBef>
              <a:spcAft>
                <a:spcPts val="0"/>
              </a:spcAft>
              <a:buClr>
                <a:srgbClr val="333333"/>
              </a:buClr>
              <a:buSzPts val="1400"/>
              <a:buFont typeface="Lekton"/>
              <a:buChar char="-"/>
            </a:pPr>
            <a:r>
              <a:rPr lang="it" b="1">
                <a:solidFill>
                  <a:srgbClr val="333333"/>
                </a:solidFill>
                <a:latin typeface="Lekton"/>
                <a:ea typeface="Lekton"/>
                <a:cs typeface="Lekton"/>
                <a:sym typeface="Lekton"/>
              </a:rPr>
              <a:t>Use of AI Tools:</a:t>
            </a:r>
            <a:r>
              <a:rPr lang="it">
                <a:solidFill>
                  <a:srgbClr val="333333"/>
                </a:solidFill>
                <a:latin typeface="Lekton"/>
                <a:ea typeface="Lekton"/>
                <a:cs typeface="Lekton"/>
                <a:sym typeface="Lekton"/>
              </a:rPr>
              <a:t> I used mainly </a:t>
            </a:r>
            <a:r>
              <a:rPr lang="it" b="1">
                <a:solidFill>
                  <a:srgbClr val="333333"/>
                </a:solidFill>
                <a:latin typeface="Lekton"/>
                <a:ea typeface="Lekton"/>
                <a:cs typeface="Lekton"/>
                <a:sym typeface="Lekton"/>
              </a:rPr>
              <a:t>Gemini</a:t>
            </a:r>
            <a:r>
              <a:rPr lang="it">
                <a:solidFill>
                  <a:srgbClr val="333333"/>
                </a:solidFill>
                <a:latin typeface="Lekton"/>
                <a:ea typeface="Lekton"/>
                <a:cs typeface="Lekton"/>
                <a:sym typeface="Lekton"/>
              </a:rPr>
              <a:t> to help with coding and brainstrom.</a:t>
            </a:r>
            <a:endParaRPr>
              <a:solidFill>
                <a:srgbClr val="333333"/>
              </a:solidFill>
              <a:latin typeface="Lekton"/>
              <a:ea typeface="Lekton"/>
              <a:cs typeface="Lekton"/>
              <a:sym typeface="Lekton"/>
            </a:endParaRPr>
          </a:p>
          <a:p>
            <a:pPr marL="457200" lvl="0" indent="-317500" algn="l" rtl="0">
              <a:spcBef>
                <a:spcPts val="1000"/>
              </a:spcBef>
              <a:spcAft>
                <a:spcPts val="0"/>
              </a:spcAft>
              <a:buClr>
                <a:srgbClr val="333333"/>
              </a:buClr>
              <a:buSzPts val="1400"/>
              <a:buFont typeface="Lekton"/>
              <a:buChar char="-"/>
            </a:pPr>
            <a:r>
              <a:rPr lang="it" b="1">
                <a:solidFill>
                  <a:srgbClr val="333333"/>
                </a:solidFill>
                <a:latin typeface="Lekton"/>
                <a:ea typeface="Lekton"/>
                <a:cs typeface="Lekton"/>
                <a:sym typeface="Lekton"/>
              </a:rPr>
              <a:t>Analytical Techniques:</a:t>
            </a:r>
            <a:r>
              <a:rPr lang="it">
                <a:solidFill>
                  <a:srgbClr val="333333"/>
                </a:solidFill>
                <a:latin typeface="Lekton"/>
                <a:ea typeface="Lekton"/>
                <a:cs typeface="Lekton"/>
                <a:sym typeface="Lekton"/>
              </a:rPr>
              <a:t> What methods did you use to derive insights? (e.g., descriptive statistics, trend analysis, comparative analysis, outlier detection)</a:t>
            </a:r>
            <a:endParaRPr>
              <a:solidFill>
                <a:srgbClr val="333333"/>
              </a:solidFill>
              <a:latin typeface="Lekton"/>
              <a:ea typeface="Lekton"/>
              <a:cs typeface="Lekton"/>
              <a:sym typeface="Lekton"/>
            </a:endParaRPr>
          </a:p>
          <a:p>
            <a:pPr marL="457200" lvl="0" indent="-317500" algn="l" rtl="0">
              <a:spcBef>
                <a:spcPts val="1000"/>
              </a:spcBef>
              <a:spcAft>
                <a:spcPts val="0"/>
              </a:spcAft>
              <a:buClr>
                <a:srgbClr val="333333"/>
              </a:buClr>
              <a:buSzPts val="1400"/>
              <a:buFont typeface="Lekton"/>
              <a:buChar char="-"/>
            </a:pPr>
            <a:r>
              <a:rPr lang="it" b="1">
                <a:solidFill>
                  <a:srgbClr val="333333"/>
                </a:solidFill>
                <a:latin typeface="Lekton"/>
                <a:ea typeface="Lekton"/>
                <a:cs typeface="Lekton"/>
                <a:sym typeface="Lekton"/>
              </a:rPr>
              <a:t>Reproducibility:</a:t>
            </a:r>
            <a:r>
              <a:rPr lang="it">
                <a:solidFill>
                  <a:srgbClr val="333333"/>
                </a:solidFill>
                <a:latin typeface="Lekton"/>
                <a:ea typeface="Lekton"/>
                <a:cs typeface="Lekton"/>
                <a:sym typeface="Lekton"/>
              </a:rPr>
              <a:t> I uploaded the project on Github:</a:t>
            </a:r>
            <a:r>
              <a:rPr lang="en-US" u="sng">
                <a:solidFill>
                  <a:srgbClr val="333333"/>
                </a:solidFill>
                <a:latin typeface="Lekton"/>
                <a:ea typeface="Lekton"/>
                <a:cs typeface="Lekton"/>
                <a:sym typeface="Lekton"/>
              </a:rPr>
              <a:t>https://github.com/Lihao-academic/Course_Work_Repo/tree/main/DataVisualizationProject</a:t>
            </a:r>
            <a:endParaRPr u="sng">
              <a:solidFill>
                <a:srgbClr val="333333"/>
              </a:solidFill>
              <a:latin typeface="Lekton"/>
              <a:ea typeface="Lekton"/>
              <a:cs typeface="Lekton"/>
              <a:sym typeface="Lekto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0"/>
          <p:cNvSpPr txBox="1"/>
          <p:nvPr/>
        </p:nvSpPr>
        <p:spPr>
          <a:xfrm>
            <a:off x="540000" y="384725"/>
            <a:ext cx="8010000" cy="3176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800" b="1">
                <a:solidFill>
                  <a:srgbClr val="D66B55"/>
                </a:solidFill>
                <a:latin typeface="Lekton"/>
                <a:ea typeface="Lekton"/>
                <a:cs typeface="Lekton"/>
                <a:sym typeface="Lekton"/>
              </a:rPr>
              <a:t>Concepts</a:t>
            </a:r>
          </a:p>
          <a:p>
            <a:pPr marL="457200" indent="-317500">
              <a:spcBef>
                <a:spcPts val="1000"/>
              </a:spcBef>
              <a:buClr>
                <a:srgbClr val="333333"/>
              </a:buClr>
              <a:buSzPts val="1400"/>
              <a:buFont typeface="Lekton"/>
              <a:buChar char="-"/>
            </a:pPr>
            <a:r>
              <a:rPr lang="en-US" b="1">
                <a:solidFill>
                  <a:srgbClr val="333333"/>
                </a:solidFill>
                <a:latin typeface="Lekton"/>
                <a:ea typeface="Lekton"/>
                <a:cs typeface="Lekton"/>
                <a:sym typeface="Lekton"/>
              </a:rPr>
              <a:t>PPP:</a:t>
            </a:r>
            <a:r>
              <a:rPr lang="en-US">
                <a:solidFill>
                  <a:srgbClr val="333333"/>
                </a:solidFill>
                <a:latin typeface="Lekton"/>
                <a:ea typeface="Lekton"/>
                <a:cs typeface="Lekton"/>
                <a:sym typeface="Lekton"/>
              </a:rPr>
              <a:t> </a:t>
            </a:r>
            <a:r>
              <a:rPr lang="en-US" altLang="zh-CN">
                <a:solidFill>
                  <a:srgbClr val="333333"/>
                </a:solidFill>
                <a:latin typeface="Lekton"/>
              </a:rPr>
              <a:t>A metric that measures the true wealth of a country's citizens by adjusting for different price levels and exchange rates, allowing for a fair comparison of purchasing power across nations.</a:t>
            </a:r>
            <a:endParaRPr lang="en-US">
              <a:solidFill>
                <a:srgbClr val="333333"/>
              </a:solidFill>
              <a:latin typeface="Lekton"/>
              <a:sym typeface="Lekton"/>
            </a:endParaRPr>
          </a:p>
          <a:p>
            <a:pPr marL="457200" indent="-317500">
              <a:spcBef>
                <a:spcPts val="1000"/>
              </a:spcBef>
              <a:buClr>
                <a:srgbClr val="333333"/>
              </a:buClr>
              <a:buSzPts val="1400"/>
              <a:buFont typeface="Lekton"/>
              <a:buChar char="-"/>
            </a:pPr>
            <a:r>
              <a:rPr lang="it" b="1">
                <a:solidFill>
                  <a:srgbClr val="333333"/>
                </a:solidFill>
                <a:latin typeface="Lekton"/>
                <a:ea typeface="Lekton"/>
                <a:cs typeface="Lekton"/>
                <a:sym typeface="Lekton"/>
              </a:rPr>
              <a:t>Taxing Wedges: </a:t>
            </a:r>
            <a:r>
              <a:rPr lang="en-US" altLang="zh-CN">
                <a:solidFill>
                  <a:srgbClr val="333333"/>
                </a:solidFill>
                <a:latin typeface="Lekton"/>
              </a:rPr>
              <a:t>The ratio of total taxes and social security contributions paid by an employee compared to their total labor cost. Essentially, it is the slice of the salary pie taken by the government.</a:t>
            </a:r>
            <a:endParaRPr lang="en-US">
              <a:solidFill>
                <a:srgbClr val="333333"/>
              </a:solidFill>
              <a:latin typeface="Lekton"/>
              <a:sym typeface="Lekton"/>
            </a:endParaRPr>
          </a:p>
          <a:p>
            <a:pPr marL="457200" lvl="0" indent="-317500" algn="l" rtl="0">
              <a:spcBef>
                <a:spcPts val="1000"/>
              </a:spcBef>
              <a:spcAft>
                <a:spcPts val="0"/>
              </a:spcAft>
              <a:buClr>
                <a:srgbClr val="333333"/>
              </a:buClr>
              <a:buSzPts val="1400"/>
              <a:buFont typeface="Lekton"/>
              <a:buChar char="-"/>
            </a:pPr>
            <a:r>
              <a:rPr lang="en-US" b="1">
                <a:solidFill>
                  <a:srgbClr val="333333"/>
                </a:solidFill>
                <a:latin typeface="Lekton"/>
                <a:ea typeface="Lekton"/>
                <a:cs typeface="Lekton"/>
                <a:sym typeface="Lekton"/>
              </a:rPr>
              <a:t>Industry value added, percentage of GDP: </a:t>
            </a:r>
            <a:r>
              <a:rPr lang="en-US" altLang="zh-CN">
                <a:solidFill>
                  <a:srgbClr val="333333"/>
                </a:solidFill>
                <a:latin typeface="Lekton"/>
              </a:rPr>
              <a:t>A macroeconomic indicator showing the share of a country's total economic output that comes from industrial sectors (like manufacturing, mining, and construction) rather than services or finance.</a:t>
            </a:r>
            <a:endParaRPr lang="en-US">
              <a:solidFill>
                <a:srgbClr val="333333"/>
              </a:solidFill>
              <a:latin typeface="Lekton"/>
              <a:sym typeface="Lekton"/>
            </a:endParaRPr>
          </a:p>
          <a:p>
            <a:pPr marL="457200" lvl="0" indent="-317500" algn="l" rtl="0">
              <a:spcBef>
                <a:spcPts val="1000"/>
              </a:spcBef>
              <a:spcAft>
                <a:spcPts val="0"/>
              </a:spcAft>
              <a:buClr>
                <a:srgbClr val="333333"/>
              </a:buClr>
              <a:buSzPts val="1400"/>
              <a:buFont typeface="Lekton"/>
              <a:buChar char="-"/>
            </a:pPr>
            <a:r>
              <a:rPr lang="en-US" b="1">
                <a:solidFill>
                  <a:srgbClr val="333333"/>
                </a:solidFill>
                <a:latin typeface="Lekton"/>
                <a:ea typeface="Lekton"/>
                <a:cs typeface="Lekton"/>
                <a:sym typeface="Lekton"/>
              </a:rPr>
              <a:t>STEM: </a:t>
            </a:r>
            <a:r>
              <a:rPr lang="en-US">
                <a:solidFill>
                  <a:srgbClr val="333333"/>
                </a:solidFill>
                <a:latin typeface="Lekton"/>
                <a:sym typeface="Lekton"/>
              </a:rPr>
              <a:t>An acronym for the core technical and scientific disciplines that drive a nation's high-tech research, innovation, and industrial workforce.</a:t>
            </a:r>
          </a:p>
          <a:p>
            <a:pPr marL="457200" lvl="0" indent="-317500">
              <a:spcBef>
                <a:spcPts val="1000"/>
              </a:spcBef>
              <a:buClr>
                <a:srgbClr val="333333"/>
              </a:buClr>
              <a:buSzPts val="1400"/>
              <a:buFont typeface="Lekton"/>
              <a:buChar char="-"/>
            </a:pPr>
            <a:r>
              <a:rPr lang="en-US" b="1">
                <a:solidFill>
                  <a:srgbClr val="333333"/>
                </a:solidFill>
                <a:latin typeface="Lekton"/>
                <a:sym typeface="Lekton"/>
              </a:rPr>
              <a:t>Income of </a:t>
            </a:r>
            <a:r>
              <a:rPr lang="en-US" altLang="zh-CN" b="1">
                <a:solidFill>
                  <a:srgbClr val="333333"/>
                </a:solidFill>
                <a:latin typeface="Lekton"/>
                <a:sym typeface="Lekton"/>
              </a:rPr>
              <a:t>Workers</a:t>
            </a:r>
            <a:r>
              <a:rPr lang="en-US" b="1">
                <a:solidFill>
                  <a:srgbClr val="333333"/>
                </a:solidFill>
                <a:latin typeface="Lekton"/>
                <a:sym typeface="Lekton"/>
              </a:rPr>
              <a:t> in STEM (%): </a:t>
            </a:r>
            <a:r>
              <a:rPr lang="en-US" altLang="zh-CN">
                <a:solidFill>
                  <a:srgbClr val="333333"/>
                </a:solidFill>
                <a:latin typeface="Lekton"/>
              </a:rPr>
              <a:t>The income premium or relative salary of STEM professionals compared to the national average salary. For instance, a value of 118% means STEM workers earn 18% more than the average worker</a:t>
            </a:r>
            <a:r>
              <a:rPr lang="en-US" altLang="zh-CN">
                <a:solidFill>
                  <a:srgbClr val="333333"/>
                </a:solidFill>
                <a:latin typeface="Lekton"/>
                <a:sym typeface="Lekton"/>
              </a:rPr>
              <a:t>.</a:t>
            </a:r>
            <a:endParaRPr lang="en-US">
              <a:solidFill>
                <a:srgbClr val="333333"/>
              </a:solidFill>
              <a:latin typeface="Lekton"/>
              <a:sym typeface="Lekton"/>
            </a:endParaRPr>
          </a:p>
          <a:p>
            <a:pPr marL="457200" lvl="0" indent="-317500" algn="l" rtl="0">
              <a:spcBef>
                <a:spcPts val="1000"/>
              </a:spcBef>
              <a:spcAft>
                <a:spcPts val="0"/>
              </a:spcAft>
              <a:buClr>
                <a:srgbClr val="333333"/>
              </a:buClr>
              <a:buSzPts val="1400"/>
              <a:buFont typeface="Lekton"/>
              <a:buChar char="-"/>
            </a:pPr>
            <a:endParaRPr lang="en-US">
              <a:solidFill>
                <a:srgbClr val="333333"/>
              </a:solidFill>
              <a:latin typeface="Lekton"/>
              <a:ea typeface="Lekton"/>
              <a:cs typeface="Lekton"/>
              <a:sym typeface="Lekton"/>
            </a:endParaRPr>
          </a:p>
        </p:txBody>
      </p:sp>
    </p:spTree>
    <p:extLst>
      <p:ext uri="{BB962C8B-B14F-4D97-AF65-F5344CB8AC3E}">
        <p14:creationId xmlns:p14="http://schemas.microsoft.com/office/powerpoint/2010/main" val="453721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0"/>
          <p:cNvSpPr txBox="1"/>
          <p:nvPr/>
        </p:nvSpPr>
        <p:spPr>
          <a:xfrm>
            <a:off x="540000" y="384725"/>
            <a:ext cx="8010000" cy="424167"/>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altLang="zh-CN" sz="1800" b="1">
                <a:solidFill>
                  <a:srgbClr val="D66B55"/>
                </a:solidFill>
                <a:latin typeface="Lekton"/>
                <a:ea typeface="Lekton"/>
                <a:cs typeface="Lekton"/>
                <a:sym typeface="Lekton"/>
              </a:rPr>
              <a:t>Examples of the Final Combined Table</a:t>
            </a:r>
            <a:endParaRPr lang="en-US" sz="1800" b="1">
              <a:solidFill>
                <a:srgbClr val="D66B55"/>
              </a:solidFill>
              <a:latin typeface="Lekton"/>
              <a:ea typeface="Lekton"/>
              <a:cs typeface="Lekton"/>
              <a:sym typeface="Lekton"/>
            </a:endParaRPr>
          </a:p>
        </p:txBody>
      </p:sp>
      <p:pic>
        <p:nvPicPr>
          <p:cNvPr id="3" name="图片 2">
            <a:extLst>
              <a:ext uri="{FF2B5EF4-FFF2-40B4-BE49-F238E27FC236}">
                <a16:creationId xmlns:a16="http://schemas.microsoft.com/office/drawing/2014/main" id="{963CB47B-EEAA-0805-8CA8-D059DEB91081}"/>
              </a:ext>
            </a:extLst>
          </p:cNvPr>
          <p:cNvPicPr>
            <a:picLocks noChangeAspect="1"/>
          </p:cNvPicPr>
          <p:nvPr/>
        </p:nvPicPr>
        <p:blipFill>
          <a:blip r:embed="rId3"/>
          <a:stretch>
            <a:fillRect/>
          </a:stretch>
        </p:blipFill>
        <p:spPr>
          <a:xfrm>
            <a:off x="521326" y="808892"/>
            <a:ext cx="8101347" cy="3720499"/>
          </a:xfrm>
          <a:prstGeom prst="rect">
            <a:avLst/>
          </a:prstGeom>
          <a:effectLst>
            <a:glow rad="63500">
              <a:schemeClr val="accent5">
                <a:satMod val="175000"/>
                <a:alpha val="40000"/>
              </a:schemeClr>
            </a:glow>
          </a:effectLst>
        </p:spPr>
      </p:pic>
    </p:spTree>
    <p:extLst>
      <p:ext uri="{BB962C8B-B14F-4D97-AF65-F5344CB8AC3E}">
        <p14:creationId xmlns:p14="http://schemas.microsoft.com/office/powerpoint/2010/main" val="1794577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22000">
              <a:schemeClr val="accent5">
                <a:lumMod val="45000"/>
                <a:lumOff val="55000"/>
              </a:schemeClr>
            </a:gs>
            <a:gs pos="83000">
              <a:schemeClr val="accent5">
                <a:lumMod val="45000"/>
                <a:lumOff val="55000"/>
              </a:schemeClr>
            </a:gs>
            <a:gs pos="100000">
              <a:srgbClr val="00B0F0">
                <a:lumMod val="75000"/>
                <a:lumOff val="25000"/>
              </a:srgbClr>
            </a:gs>
          </a:gsLst>
          <a:lin ang="2700000" scaled="1"/>
          <a:tileRect/>
        </a:gradFill>
        <a:effectLst/>
      </p:bgPr>
    </p:bg>
    <p:spTree>
      <p:nvGrpSpPr>
        <p:cNvPr id="1" name="Shape 158"/>
        <p:cNvGrpSpPr/>
        <p:nvPr/>
      </p:nvGrpSpPr>
      <p:grpSpPr>
        <a:xfrm>
          <a:off x="0" y="0"/>
          <a:ext cx="0" cy="0"/>
          <a:chOff x="0" y="0"/>
          <a:chExt cx="0" cy="0"/>
        </a:xfrm>
      </p:grpSpPr>
      <p:sp>
        <p:nvSpPr>
          <p:cNvPr id="159" name="Google Shape;159;p30"/>
          <p:cNvSpPr txBox="1"/>
          <p:nvPr/>
        </p:nvSpPr>
        <p:spPr>
          <a:xfrm>
            <a:off x="540000" y="384725"/>
            <a:ext cx="8010000" cy="247792"/>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800" b="1">
                <a:solidFill>
                  <a:srgbClr val="D66B55"/>
                </a:solidFill>
                <a:latin typeface="Lekton"/>
                <a:ea typeface="Lekton"/>
                <a:cs typeface="Lekton"/>
                <a:sym typeface="Lekton"/>
              </a:rPr>
              <a:t>Question 1</a:t>
            </a:r>
            <a:endParaRPr sz="1800" b="1">
              <a:solidFill>
                <a:srgbClr val="D66B55"/>
              </a:solidFill>
              <a:latin typeface="Lekton"/>
              <a:ea typeface="Lekton"/>
              <a:cs typeface="Lekton"/>
              <a:sym typeface="Lekton"/>
            </a:endParaRPr>
          </a:p>
        </p:txBody>
      </p:sp>
      <p:pic>
        <p:nvPicPr>
          <p:cNvPr id="5" name="图片 4">
            <a:extLst>
              <a:ext uri="{FF2B5EF4-FFF2-40B4-BE49-F238E27FC236}">
                <a16:creationId xmlns:a16="http://schemas.microsoft.com/office/drawing/2014/main" id="{578DD715-B860-4F5E-3903-8EF22C2F30D2}"/>
              </a:ext>
            </a:extLst>
          </p:cNvPr>
          <p:cNvPicPr>
            <a:picLocks noChangeAspect="1"/>
          </p:cNvPicPr>
          <p:nvPr/>
        </p:nvPicPr>
        <p:blipFill>
          <a:blip r:embed="rId3"/>
          <a:stretch>
            <a:fillRect/>
          </a:stretch>
        </p:blipFill>
        <p:spPr>
          <a:xfrm>
            <a:off x="540000" y="2915509"/>
            <a:ext cx="3850106" cy="2158991"/>
          </a:xfrm>
          <a:prstGeom prst="rect">
            <a:avLst/>
          </a:prstGeom>
          <a:effectLst>
            <a:glow rad="63500">
              <a:schemeClr val="accent5">
                <a:satMod val="175000"/>
                <a:alpha val="40000"/>
              </a:schemeClr>
            </a:glow>
          </a:effectLst>
        </p:spPr>
      </p:pic>
      <p:sp>
        <p:nvSpPr>
          <p:cNvPr id="6" name="文本框 5">
            <a:extLst>
              <a:ext uri="{FF2B5EF4-FFF2-40B4-BE49-F238E27FC236}">
                <a16:creationId xmlns:a16="http://schemas.microsoft.com/office/drawing/2014/main" id="{CB2C0149-2354-E1EC-00A9-B73A88126A8B}"/>
              </a:ext>
            </a:extLst>
          </p:cNvPr>
          <p:cNvSpPr txBox="1"/>
          <p:nvPr/>
        </p:nvSpPr>
        <p:spPr>
          <a:xfrm>
            <a:off x="4913180" y="756519"/>
            <a:ext cx="4230819" cy="4304255"/>
          </a:xfrm>
          <a:prstGeom prst="rect">
            <a:avLst/>
          </a:prstGeom>
          <a:noFill/>
        </p:spPr>
        <p:txBody>
          <a:bodyPr wrap="square" rtlCol="0">
            <a:spAutoFit/>
          </a:bodyPr>
          <a:lstStyle/>
          <a:p>
            <a:pPr marL="139700" lvl="0" algn="l" rtl="0">
              <a:lnSpc>
                <a:spcPct val="115000"/>
              </a:lnSpc>
              <a:spcAft>
                <a:spcPts val="0"/>
              </a:spcAft>
              <a:buClr>
                <a:srgbClr val="333333"/>
              </a:buClr>
              <a:buSzPts val="1400"/>
            </a:pPr>
            <a:r>
              <a:rPr lang="en-US" altLang="zh-CN" sz="1400">
                <a:solidFill>
                  <a:srgbClr val="333333"/>
                </a:solidFill>
                <a:latin typeface="Lekton"/>
                <a:ea typeface="Lekton"/>
                <a:cs typeface="Lekton"/>
                <a:sym typeface="Lekton"/>
              </a:rPr>
              <a:t>  However, the results were quite different from what we expected. In reality, there was little correlation between these variables. We can see that "Share of STEM grades" has a weak relationship with the industry indicator, although their p-values, correlations, and R-squared are not impressive. However, as we will see later, this is already the strongest correlation. Furthermore, in economics, it's inherently difficult to find clear correlations, so we reluctantly conclude that </a:t>
            </a:r>
            <a:r>
              <a:rPr lang="en-US" altLang="zh-CN" sz="1400" b="1">
                <a:solidFill>
                  <a:srgbClr val="333333"/>
                </a:solidFill>
                <a:latin typeface="Lekton"/>
                <a:ea typeface="Lekton"/>
                <a:cs typeface="Lekton"/>
                <a:sym typeface="Lekton"/>
              </a:rPr>
              <a:t>a weak correlation</a:t>
            </a:r>
            <a:r>
              <a:rPr lang="en-US" altLang="zh-CN" sz="1400">
                <a:solidFill>
                  <a:srgbClr val="333333"/>
                </a:solidFill>
                <a:latin typeface="Lekton"/>
                <a:ea typeface="Lekton"/>
                <a:cs typeface="Lekton"/>
                <a:sym typeface="Lekton"/>
              </a:rPr>
              <a:t> does exist here.</a:t>
            </a:r>
          </a:p>
          <a:p>
            <a:pPr marL="139700" lvl="0" algn="l" rtl="0">
              <a:lnSpc>
                <a:spcPct val="115000"/>
              </a:lnSpc>
              <a:spcAft>
                <a:spcPts val="0"/>
              </a:spcAft>
              <a:buClr>
                <a:srgbClr val="333333"/>
              </a:buClr>
              <a:buSzPts val="1400"/>
            </a:pPr>
            <a:r>
              <a:rPr lang="en-US" altLang="zh-CN">
                <a:solidFill>
                  <a:srgbClr val="333333"/>
                </a:solidFill>
                <a:latin typeface="Lekton"/>
                <a:ea typeface="Lekton"/>
                <a:cs typeface="Lekton"/>
                <a:sym typeface="Lekton"/>
              </a:rPr>
              <a:t>  </a:t>
            </a:r>
            <a:r>
              <a:rPr lang="en-US" altLang="zh-CN" sz="1400">
                <a:solidFill>
                  <a:srgbClr val="333333"/>
                </a:solidFill>
                <a:latin typeface="Lekton"/>
                <a:ea typeface="Lekton"/>
                <a:cs typeface="Lekton"/>
                <a:sym typeface="Lekton"/>
              </a:rPr>
              <a:t>Conversely, their </a:t>
            </a:r>
            <a:r>
              <a:rPr lang="en-US" altLang="zh-CN" sz="1400" b="1">
                <a:solidFill>
                  <a:srgbClr val="333333"/>
                </a:solidFill>
                <a:latin typeface="Lekton"/>
                <a:ea typeface="Lekton"/>
                <a:cs typeface="Lekton"/>
                <a:sym typeface="Lekton"/>
              </a:rPr>
              <a:t>salaries are almost unrelated to industrial development</a:t>
            </a:r>
            <a:r>
              <a:rPr lang="en-US" altLang="zh-CN" sz="1400">
                <a:solidFill>
                  <a:srgbClr val="333333"/>
                </a:solidFill>
                <a:latin typeface="Lekton"/>
                <a:ea typeface="Lekton"/>
                <a:cs typeface="Lekton"/>
                <a:sym typeface="Lekton"/>
              </a:rPr>
              <a:t>, and industrial development does not necessarily mean a higher STEM salary premium.</a:t>
            </a:r>
          </a:p>
        </p:txBody>
      </p:sp>
      <p:pic>
        <p:nvPicPr>
          <p:cNvPr id="8" name="图片 7" descr="图表, 散点图&#10;&#10;AI 生成的内容可能不正确。">
            <a:extLst>
              <a:ext uri="{FF2B5EF4-FFF2-40B4-BE49-F238E27FC236}">
                <a16:creationId xmlns:a16="http://schemas.microsoft.com/office/drawing/2014/main" id="{172D3F23-C8E2-E788-B0BF-F4F4837BC959}"/>
              </a:ext>
            </a:extLst>
          </p:cNvPr>
          <p:cNvPicPr>
            <a:picLocks noChangeAspect="1"/>
          </p:cNvPicPr>
          <p:nvPr/>
        </p:nvPicPr>
        <p:blipFill>
          <a:blip r:embed="rId4"/>
          <a:stretch>
            <a:fillRect/>
          </a:stretch>
        </p:blipFill>
        <p:spPr>
          <a:xfrm>
            <a:off x="540000" y="756519"/>
            <a:ext cx="3850105" cy="2158990"/>
          </a:xfrm>
          <a:prstGeom prst="rect">
            <a:avLst/>
          </a:prstGeom>
          <a:effectLst>
            <a:glow rad="63500">
              <a:schemeClr val="accent5">
                <a:satMod val="175000"/>
                <a:alpha val="40000"/>
              </a:schemeClr>
            </a:glow>
          </a:effectLst>
        </p:spPr>
      </p:pic>
    </p:spTree>
    <p:extLst>
      <p:ext uri="{BB962C8B-B14F-4D97-AF65-F5344CB8AC3E}">
        <p14:creationId xmlns:p14="http://schemas.microsoft.com/office/powerpoint/2010/main" val="2551301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0"/>
          <p:cNvSpPr txBox="1"/>
          <p:nvPr/>
        </p:nvSpPr>
        <p:spPr>
          <a:xfrm>
            <a:off x="540000" y="384725"/>
            <a:ext cx="8010000" cy="247792"/>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800" b="1">
                <a:solidFill>
                  <a:srgbClr val="D66B55"/>
                </a:solidFill>
                <a:latin typeface="Lekton"/>
                <a:ea typeface="Lekton"/>
                <a:cs typeface="Lekton"/>
                <a:sym typeface="Lekton"/>
              </a:rPr>
              <a:t>Question 2</a:t>
            </a:r>
            <a:endParaRPr sz="1800" b="1">
              <a:solidFill>
                <a:srgbClr val="D66B55"/>
              </a:solidFill>
              <a:latin typeface="Lekton"/>
              <a:ea typeface="Lekton"/>
              <a:cs typeface="Lekton"/>
              <a:sym typeface="Lekton"/>
            </a:endParaRPr>
          </a:p>
        </p:txBody>
      </p:sp>
      <p:pic>
        <p:nvPicPr>
          <p:cNvPr id="4" name="图片 3" descr="日历, 散点图&#10;&#10;AI 生成的内容可能不正确。">
            <a:extLst>
              <a:ext uri="{FF2B5EF4-FFF2-40B4-BE49-F238E27FC236}">
                <a16:creationId xmlns:a16="http://schemas.microsoft.com/office/drawing/2014/main" id="{50F7D17E-631D-45CB-AFF0-FDB665136BA2}"/>
              </a:ext>
            </a:extLst>
          </p:cNvPr>
          <p:cNvPicPr>
            <a:picLocks noChangeAspect="1"/>
          </p:cNvPicPr>
          <p:nvPr/>
        </p:nvPicPr>
        <p:blipFill>
          <a:blip r:embed="rId3"/>
          <a:stretch>
            <a:fillRect/>
          </a:stretch>
        </p:blipFill>
        <p:spPr>
          <a:xfrm>
            <a:off x="539999" y="729656"/>
            <a:ext cx="3850106" cy="2158991"/>
          </a:xfrm>
          <a:prstGeom prst="rect">
            <a:avLst/>
          </a:prstGeom>
          <a:effectLst>
            <a:glow rad="63500">
              <a:schemeClr val="accent5">
                <a:satMod val="175000"/>
                <a:alpha val="40000"/>
              </a:schemeClr>
            </a:glow>
          </a:effectLst>
        </p:spPr>
      </p:pic>
      <p:pic>
        <p:nvPicPr>
          <p:cNvPr id="9" name="图片 8" descr="日历, 散点图&#10;&#10;AI 生成的内容可能不正确。">
            <a:extLst>
              <a:ext uri="{FF2B5EF4-FFF2-40B4-BE49-F238E27FC236}">
                <a16:creationId xmlns:a16="http://schemas.microsoft.com/office/drawing/2014/main" id="{1C5FCDE0-5292-A595-BE4B-2073BFDD52BA}"/>
              </a:ext>
            </a:extLst>
          </p:cNvPr>
          <p:cNvPicPr>
            <a:picLocks noChangeAspect="1"/>
          </p:cNvPicPr>
          <p:nvPr/>
        </p:nvPicPr>
        <p:blipFill>
          <a:blip r:embed="rId4"/>
          <a:stretch>
            <a:fillRect/>
          </a:stretch>
        </p:blipFill>
        <p:spPr>
          <a:xfrm>
            <a:off x="539997" y="2915505"/>
            <a:ext cx="3850108" cy="2158992"/>
          </a:xfrm>
          <a:prstGeom prst="rect">
            <a:avLst/>
          </a:prstGeom>
          <a:effectLst>
            <a:glow rad="63500">
              <a:schemeClr val="accent5">
                <a:satMod val="175000"/>
                <a:alpha val="40000"/>
              </a:schemeClr>
            </a:glow>
          </a:effectLst>
        </p:spPr>
      </p:pic>
      <p:sp>
        <p:nvSpPr>
          <p:cNvPr id="11" name="文本框 10">
            <a:extLst>
              <a:ext uri="{FF2B5EF4-FFF2-40B4-BE49-F238E27FC236}">
                <a16:creationId xmlns:a16="http://schemas.microsoft.com/office/drawing/2014/main" id="{F7A8F326-68C9-7B3F-035A-B3C058CDD510}"/>
              </a:ext>
            </a:extLst>
          </p:cNvPr>
          <p:cNvSpPr txBox="1"/>
          <p:nvPr/>
        </p:nvSpPr>
        <p:spPr>
          <a:xfrm>
            <a:off x="4913180" y="756519"/>
            <a:ext cx="4230819" cy="2074414"/>
          </a:xfrm>
          <a:prstGeom prst="rect">
            <a:avLst/>
          </a:prstGeom>
          <a:noFill/>
        </p:spPr>
        <p:txBody>
          <a:bodyPr wrap="square" rtlCol="0">
            <a:spAutoFit/>
          </a:bodyPr>
          <a:lstStyle/>
          <a:p>
            <a:pPr marL="139700" lvl="0" algn="l" rtl="0">
              <a:lnSpc>
                <a:spcPct val="115000"/>
              </a:lnSpc>
              <a:spcAft>
                <a:spcPts val="0"/>
              </a:spcAft>
              <a:buClr>
                <a:srgbClr val="333333"/>
              </a:buClr>
              <a:buSzPts val="1400"/>
            </a:pPr>
            <a:r>
              <a:rPr lang="en-US" altLang="zh-CN" sz="1400">
                <a:solidFill>
                  <a:srgbClr val="333333"/>
                </a:solidFill>
                <a:latin typeface="Lekton"/>
                <a:ea typeface="Lekton"/>
                <a:cs typeface="Lekton"/>
                <a:sym typeface="Lekton"/>
              </a:rPr>
              <a:t>  The second question we studied was about purchasing power parity and the proportion of STEM students in a country. However, we still found that there was almost no correlation. In other words, </a:t>
            </a:r>
            <a:r>
              <a:rPr lang="en-US" altLang="zh-CN" sz="1400" b="1">
                <a:solidFill>
                  <a:srgbClr val="333333"/>
                </a:solidFill>
                <a:latin typeface="Lekton"/>
                <a:ea typeface="Lekton"/>
                <a:cs typeface="Lekton"/>
                <a:sym typeface="Lekton"/>
              </a:rPr>
              <a:t>people's average wealth level has almost no relation to their willingness to choose STEM fields</a:t>
            </a:r>
            <a:r>
              <a:rPr lang="en-US" altLang="zh-CN" sz="1400">
                <a:solidFill>
                  <a:srgbClr val="333333"/>
                </a:solidFill>
                <a:latin typeface="Lekton"/>
                <a:ea typeface="Lekton"/>
                <a:cs typeface="Lekton"/>
                <a:sym typeface="Lekton"/>
              </a:rPr>
              <a:t>, at least in OECD countries.</a:t>
            </a:r>
          </a:p>
        </p:txBody>
      </p:sp>
    </p:spTree>
    <p:extLst>
      <p:ext uri="{BB962C8B-B14F-4D97-AF65-F5344CB8AC3E}">
        <p14:creationId xmlns:p14="http://schemas.microsoft.com/office/powerpoint/2010/main" val="2426851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0"/>
          <p:cNvSpPr txBox="1"/>
          <p:nvPr/>
        </p:nvSpPr>
        <p:spPr>
          <a:xfrm>
            <a:off x="540000" y="384725"/>
            <a:ext cx="8010000" cy="247792"/>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800" b="1">
                <a:solidFill>
                  <a:srgbClr val="D66B55"/>
                </a:solidFill>
                <a:latin typeface="Lekton"/>
                <a:ea typeface="Lekton"/>
                <a:cs typeface="Lekton"/>
                <a:sym typeface="Lekton"/>
              </a:rPr>
              <a:t>Question 3</a:t>
            </a:r>
            <a:endParaRPr sz="1800" b="1">
              <a:solidFill>
                <a:srgbClr val="D66B55"/>
              </a:solidFill>
              <a:latin typeface="Lekton"/>
              <a:ea typeface="Lekton"/>
              <a:cs typeface="Lekton"/>
              <a:sym typeface="Lekton"/>
            </a:endParaRPr>
          </a:p>
        </p:txBody>
      </p:sp>
      <p:pic>
        <p:nvPicPr>
          <p:cNvPr id="4" name="图片 3" descr="图表&#10;&#10;AI 生成的内容可能不正确。">
            <a:extLst>
              <a:ext uri="{FF2B5EF4-FFF2-40B4-BE49-F238E27FC236}">
                <a16:creationId xmlns:a16="http://schemas.microsoft.com/office/drawing/2014/main" id="{F7EE048F-B3E3-19E8-2192-8A477E2A1364}"/>
              </a:ext>
            </a:extLst>
          </p:cNvPr>
          <p:cNvPicPr>
            <a:picLocks noChangeAspect="1"/>
          </p:cNvPicPr>
          <p:nvPr/>
        </p:nvPicPr>
        <p:blipFill>
          <a:blip r:embed="rId3"/>
          <a:stretch>
            <a:fillRect/>
          </a:stretch>
        </p:blipFill>
        <p:spPr>
          <a:xfrm>
            <a:off x="540000" y="756519"/>
            <a:ext cx="3850106" cy="2158990"/>
          </a:xfrm>
          <a:prstGeom prst="rect">
            <a:avLst/>
          </a:prstGeom>
          <a:effectLst>
            <a:glow rad="63500">
              <a:schemeClr val="accent5">
                <a:satMod val="175000"/>
                <a:alpha val="40000"/>
              </a:schemeClr>
            </a:glow>
          </a:effectLst>
        </p:spPr>
      </p:pic>
      <p:sp>
        <p:nvSpPr>
          <p:cNvPr id="7" name="文本框 6">
            <a:extLst>
              <a:ext uri="{FF2B5EF4-FFF2-40B4-BE49-F238E27FC236}">
                <a16:creationId xmlns:a16="http://schemas.microsoft.com/office/drawing/2014/main" id="{AB060A0B-D40F-CC13-2F64-EDD1426ACBE1}"/>
              </a:ext>
            </a:extLst>
          </p:cNvPr>
          <p:cNvSpPr txBox="1"/>
          <p:nvPr/>
        </p:nvSpPr>
        <p:spPr>
          <a:xfrm>
            <a:off x="4913180" y="756519"/>
            <a:ext cx="4230819" cy="3313215"/>
          </a:xfrm>
          <a:prstGeom prst="rect">
            <a:avLst/>
          </a:prstGeom>
          <a:noFill/>
        </p:spPr>
        <p:txBody>
          <a:bodyPr wrap="square" rtlCol="0">
            <a:spAutoFit/>
          </a:bodyPr>
          <a:lstStyle/>
          <a:p>
            <a:pPr marL="139700" lvl="0" algn="l" rtl="0">
              <a:lnSpc>
                <a:spcPct val="115000"/>
              </a:lnSpc>
              <a:spcAft>
                <a:spcPts val="0"/>
              </a:spcAft>
              <a:buClr>
                <a:srgbClr val="333333"/>
              </a:buClr>
              <a:buSzPts val="1400"/>
            </a:pPr>
            <a:r>
              <a:rPr lang="en-US" altLang="zh-CN" sz="1400">
                <a:solidFill>
                  <a:srgbClr val="333333"/>
                </a:solidFill>
                <a:latin typeface="Lekton"/>
                <a:ea typeface="Lekton"/>
                <a:cs typeface="Lekton"/>
                <a:sym typeface="Lekton"/>
              </a:rPr>
              <a:t>  Does the taxing rate itself affect the development of industry of a country?Will tax imporve or foster the development of industry?</a:t>
            </a:r>
          </a:p>
          <a:p>
            <a:pPr marL="139700" lvl="0" algn="l" rtl="0">
              <a:lnSpc>
                <a:spcPct val="115000"/>
              </a:lnSpc>
              <a:spcAft>
                <a:spcPts val="0"/>
              </a:spcAft>
              <a:buClr>
                <a:srgbClr val="333333"/>
              </a:buClr>
              <a:buSzPts val="1400"/>
            </a:pPr>
            <a:r>
              <a:rPr lang="en-US" altLang="zh-CN" sz="1400">
                <a:solidFill>
                  <a:srgbClr val="333333"/>
                </a:solidFill>
                <a:latin typeface="Lekton"/>
                <a:ea typeface="Lekton"/>
                <a:cs typeface="Lekton"/>
                <a:sym typeface="Lekton"/>
              </a:rPr>
              <a:t>  In the third question, we intend to study whether national taxes on workers affect the overall industrial development of the country. The results do show a slight negative correlation, and even the p-value is relatively low. We might say that </a:t>
            </a:r>
            <a:r>
              <a:rPr lang="en-US" altLang="zh-CN" sz="1400" b="1">
                <a:solidFill>
                  <a:srgbClr val="333333"/>
                </a:solidFill>
                <a:latin typeface="Lekton"/>
                <a:ea typeface="Lekton"/>
                <a:cs typeface="Lekton"/>
                <a:sym typeface="Lekton"/>
              </a:rPr>
              <a:t>high taxes do have some negative impact on the overall industrial development </a:t>
            </a:r>
            <a:r>
              <a:rPr lang="en-US" altLang="zh-CN" sz="1400">
                <a:solidFill>
                  <a:srgbClr val="333333"/>
                </a:solidFill>
                <a:latin typeface="Lekton"/>
                <a:ea typeface="Lekton"/>
                <a:cs typeface="Lekton"/>
                <a:sym typeface="Lekton"/>
              </a:rPr>
              <a:t>of the country.</a:t>
            </a:r>
          </a:p>
        </p:txBody>
      </p:sp>
    </p:spTree>
    <p:extLst>
      <p:ext uri="{BB962C8B-B14F-4D97-AF65-F5344CB8AC3E}">
        <p14:creationId xmlns:p14="http://schemas.microsoft.com/office/powerpoint/2010/main" val="2700883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0"/>
          <p:cNvSpPr txBox="1"/>
          <p:nvPr/>
        </p:nvSpPr>
        <p:spPr>
          <a:xfrm>
            <a:off x="540000" y="384725"/>
            <a:ext cx="8010000" cy="247792"/>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800" b="1">
                <a:solidFill>
                  <a:srgbClr val="D66B55"/>
                </a:solidFill>
                <a:latin typeface="Lekton"/>
                <a:ea typeface="Lekton"/>
                <a:cs typeface="Lekton"/>
                <a:sym typeface="Lekton"/>
              </a:rPr>
              <a:t>Furthermore...</a:t>
            </a:r>
            <a:endParaRPr sz="1800" b="1">
              <a:solidFill>
                <a:srgbClr val="D66B55"/>
              </a:solidFill>
              <a:latin typeface="Lekton"/>
              <a:ea typeface="Lekton"/>
              <a:cs typeface="Lekton"/>
              <a:sym typeface="Lekton"/>
            </a:endParaRPr>
          </a:p>
        </p:txBody>
      </p:sp>
      <p:pic>
        <p:nvPicPr>
          <p:cNvPr id="3" name="图片 2" descr="图表, 条形图&#10;&#10;AI 生成的内容可能不正确。">
            <a:extLst>
              <a:ext uri="{FF2B5EF4-FFF2-40B4-BE49-F238E27FC236}">
                <a16:creationId xmlns:a16="http://schemas.microsoft.com/office/drawing/2014/main" id="{021AB6E7-201A-D88E-F00D-AFFA877C0B4A}"/>
              </a:ext>
            </a:extLst>
          </p:cNvPr>
          <p:cNvPicPr>
            <a:picLocks noChangeAspect="1"/>
          </p:cNvPicPr>
          <p:nvPr/>
        </p:nvPicPr>
        <p:blipFill>
          <a:blip r:embed="rId3"/>
          <a:stretch>
            <a:fillRect/>
          </a:stretch>
        </p:blipFill>
        <p:spPr>
          <a:xfrm>
            <a:off x="540000" y="750457"/>
            <a:ext cx="3748100" cy="2165052"/>
          </a:xfrm>
          <a:prstGeom prst="rect">
            <a:avLst/>
          </a:prstGeom>
          <a:effectLst>
            <a:glow rad="63500">
              <a:schemeClr val="accent5">
                <a:satMod val="175000"/>
                <a:alpha val="40000"/>
              </a:schemeClr>
            </a:glow>
          </a:effectLst>
        </p:spPr>
      </p:pic>
      <p:sp>
        <p:nvSpPr>
          <p:cNvPr id="5" name="文本框 4">
            <a:extLst>
              <a:ext uri="{FF2B5EF4-FFF2-40B4-BE49-F238E27FC236}">
                <a16:creationId xmlns:a16="http://schemas.microsoft.com/office/drawing/2014/main" id="{B3DCFD1D-76E0-B596-8910-9E3A6DABBDA1}"/>
              </a:ext>
            </a:extLst>
          </p:cNvPr>
          <p:cNvSpPr txBox="1"/>
          <p:nvPr/>
        </p:nvSpPr>
        <p:spPr>
          <a:xfrm>
            <a:off x="4913180" y="756519"/>
            <a:ext cx="4230819" cy="4056495"/>
          </a:xfrm>
          <a:prstGeom prst="rect">
            <a:avLst/>
          </a:prstGeom>
          <a:noFill/>
        </p:spPr>
        <p:txBody>
          <a:bodyPr wrap="square" rtlCol="0">
            <a:spAutoFit/>
          </a:bodyPr>
          <a:lstStyle/>
          <a:p>
            <a:pPr marL="139700" lvl="0" algn="l" rtl="0">
              <a:lnSpc>
                <a:spcPct val="115000"/>
              </a:lnSpc>
              <a:spcAft>
                <a:spcPts val="0"/>
              </a:spcAft>
              <a:buClr>
                <a:srgbClr val="333333"/>
              </a:buClr>
              <a:buSzPts val="1400"/>
            </a:pPr>
            <a:r>
              <a:rPr lang="en-US" altLang="zh-CN" sz="1400">
                <a:solidFill>
                  <a:srgbClr val="333333"/>
                </a:solidFill>
                <a:latin typeface="Lekton"/>
                <a:ea typeface="Lekton"/>
                <a:cs typeface="Lekton"/>
                <a:sym typeface="Lekton"/>
              </a:rPr>
              <a:t>  Since the previous correlations were relatively weak, we specifically compared the relationship between extreme high and low tax policies and the proportion of STEM students and industrial indicators. We found that under extreme conditions, this rule is still quite obvious. However, </a:t>
            </a:r>
            <a:r>
              <a:rPr lang="en-US" altLang="zh-CN" sz="1400" b="1">
                <a:solidFill>
                  <a:srgbClr val="333333"/>
                </a:solidFill>
                <a:latin typeface="Lekton"/>
                <a:ea typeface="Lekton"/>
                <a:cs typeface="Lekton"/>
                <a:sym typeface="Lekton"/>
              </a:rPr>
              <a:t>high-tax countries do not affect students' enthusiasm</a:t>
            </a:r>
            <a:r>
              <a:rPr lang="en-US" altLang="zh-CN" sz="1400">
                <a:solidFill>
                  <a:srgbClr val="333333"/>
                </a:solidFill>
                <a:latin typeface="Lekton"/>
                <a:ea typeface="Lekton"/>
                <a:cs typeface="Lekton"/>
                <a:sym typeface="Lekton"/>
              </a:rPr>
              <a:t>; on the contrary, they may encourage more people to choose STEM. </a:t>
            </a:r>
            <a:r>
              <a:rPr lang="en-US" altLang="zh-CN" sz="1400" b="1">
                <a:solidFill>
                  <a:srgbClr val="333333"/>
                </a:solidFill>
                <a:latin typeface="Lekton"/>
                <a:ea typeface="Lekton"/>
                <a:cs typeface="Lekton"/>
                <a:sym typeface="Lekton"/>
              </a:rPr>
              <a:t>This may be because taxation plays a role in other aspects.</a:t>
            </a:r>
          </a:p>
          <a:p>
            <a:pPr marL="139700" lvl="0" algn="l" rtl="0">
              <a:lnSpc>
                <a:spcPct val="115000"/>
              </a:lnSpc>
              <a:spcAft>
                <a:spcPts val="0"/>
              </a:spcAft>
              <a:buClr>
                <a:srgbClr val="333333"/>
              </a:buClr>
              <a:buSzPts val="1400"/>
            </a:pPr>
            <a:endParaRPr lang="en-US" altLang="zh-CN" sz="1400">
              <a:solidFill>
                <a:srgbClr val="333333"/>
              </a:solidFill>
              <a:latin typeface="Lekton"/>
              <a:ea typeface="Lekton"/>
              <a:cs typeface="Lekton"/>
              <a:sym typeface="Lekton"/>
            </a:endParaRPr>
          </a:p>
          <a:p>
            <a:pPr marL="139700" lvl="0" algn="l" rtl="0">
              <a:lnSpc>
                <a:spcPct val="115000"/>
              </a:lnSpc>
              <a:spcAft>
                <a:spcPts val="0"/>
              </a:spcAft>
              <a:buClr>
                <a:srgbClr val="333333"/>
              </a:buClr>
              <a:buSzPts val="1400"/>
            </a:pPr>
            <a:r>
              <a:rPr lang="en-US" altLang="zh-CN" sz="1400">
                <a:solidFill>
                  <a:srgbClr val="333333"/>
                </a:solidFill>
                <a:latin typeface="Lekton"/>
                <a:ea typeface="Lekton"/>
                <a:cs typeface="Lekton"/>
                <a:sym typeface="Lekton"/>
              </a:rPr>
              <a:t>On the other hand, </a:t>
            </a:r>
            <a:r>
              <a:rPr lang="en-US" altLang="zh-CN" sz="1400" b="1">
                <a:solidFill>
                  <a:srgbClr val="333333"/>
                </a:solidFill>
                <a:latin typeface="Lekton"/>
                <a:ea typeface="Lekton"/>
                <a:cs typeface="Lekton"/>
                <a:sym typeface="Lekton"/>
              </a:rPr>
              <a:t>excessively high taxes can indeed hinder industrial development</a:t>
            </a:r>
            <a:r>
              <a:rPr lang="en-US" altLang="zh-CN" sz="1400">
                <a:solidFill>
                  <a:srgbClr val="333333"/>
                </a:solidFill>
                <a:latin typeface="Lekton"/>
                <a:ea typeface="Lekton"/>
                <a:cs typeface="Lekton"/>
                <a:sym typeface="Lekton"/>
              </a:rPr>
              <a:t>, as we can clearly see in the graph.</a:t>
            </a:r>
          </a:p>
        </p:txBody>
      </p:sp>
    </p:spTree>
    <p:extLst>
      <p:ext uri="{BB962C8B-B14F-4D97-AF65-F5344CB8AC3E}">
        <p14:creationId xmlns:p14="http://schemas.microsoft.com/office/powerpoint/2010/main" val="3811210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0"/>
          <p:cNvSpPr txBox="1"/>
          <p:nvPr/>
        </p:nvSpPr>
        <p:spPr>
          <a:xfrm>
            <a:off x="540000" y="384725"/>
            <a:ext cx="8010000" cy="35092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it" sz="1800" b="1">
                <a:solidFill>
                  <a:srgbClr val="D66B55"/>
                </a:solidFill>
                <a:latin typeface="Lekton"/>
                <a:ea typeface="Lekton"/>
                <a:cs typeface="Lekton"/>
                <a:sym typeface="Lekton"/>
              </a:rPr>
              <a:t>Conclusions &amp; Discussion</a:t>
            </a:r>
            <a:endParaRPr sz="1800" b="1">
              <a:solidFill>
                <a:srgbClr val="D66B55"/>
              </a:solidFill>
              <a:latin typeface="Lekton"/>
              <a:ea typeface="Lekton"/>
              <a:cs typeface="Lekton"/>
              <a:sym typeface="Lekton"/>
            </a:endParaRPr>
          </a:p>
          <a:p>
            <a:pPr marL="457200" indent="-317500">
              <a:spcBef>
                <a:spcPts val="1000"/>
              </a:spcBef>
              <a:buClr>
                <a:srgbClr val="333333"/>
              </a:buClr>
              <a:buSzPts val="1400"/>
              <a:buFont typeface="Lekton"/>
              <a:buChar char="-"/>
            </a:pPr>
            <a:r>
              <a:rPr lang="en-US" altLang="zh-CN" b="1">
                <a:solidFill>
                  <a:srgbClr val="333333"/>
                </a:solidFill>
                <a:latin typeface="Lekton"/>
                <a:ea typeface="Lekton"/>
                <a:cs typeface="Lekton"/>
                <a:sym typeface="Lekton"/>
              </a:rPr>
              <a:t>Conclusions</a:t>
            </a:r>
          </a:p>
          <a:p>
            <a:pPr marL="457200" indent="-317500">
              <a:spcBef>
                <a:spcPts val="1000"/>
              </a:spcBef>
              <a:buClr>
                <a:srgbClr val="333333"/>
              </a:buClr>
              <a:buSzPts val="1400"/>
              <a:buFont typeface="Lekton"/>
              <a:buChar char="-"/>
            </a:pPr>
            <a:r>
              <a:rPr lang="en-US" altLang="zh-CN" b="1">
                <a:solidFill>
                  <a:srgbClr val="333333"/>
                </a:solidFill>
                <a:latin typeface="Lekton"/>
                <a:sym typeface="Lekton"/>
              </a:rPr>
              <a:t>The Wealth &amp; Premium Paradox</a:t>
            </a:r>
            <a:r>
              <a:rPr lang="en-US" altLang="zh-CN">
                <a:solidFill>
                  <a:srgbClr val="333333"/>
                </a:solidFill>
                <a:latin typeface="Lekton"/>
                <a:sym typeface="Lekton"/>
              </a:rPr>
              <a:t>: Highly industrialized or wealthier nations (higher PPP) do not naturally produce more STEM graduates. Furthermore, massive salary premiums (e.g., in the UK or Germany) do not guarantee a proportional surge in STEM students.</a:t>
            </a:r>
            <a:r>
              <a:rPr lang="en-US" altLang="zh-CN" b="1">
                <a:solidFill>
                  <a:srgbClr val="333333"/>
                </a:solidFill>
                <a:latin typeface="Lekton"/>
                <a:sym typeface="Lekton"/>
              </a:rPr>
              <a:t>Beyond Macroeconomics</a:t>
            </a:r>
            <a:r>
              <a:rPr lang="en-US" altLang="zh-CN">
                <a:solidFill>
                  <a:srgbClr val="333333"/>
                </a:solidFill>
                <a:latin typeface="Lekton"/>
                <a:sym typeface="Lekton"/>
              </a:rPr>
              <a:t>: The lack of strong linear correlations (R</a:t>
            </a:r>
            <a:r>
              <a:rPr lang="en-US" altLang="zh-CN" baseline="30000">
                <a:solidFill>
                  <a:srgbClr val="333333"/>
                </a:solidFill>
                <a:latin typeface="Lekton"/>
                <a:sym typeface="Lekton"/>
              </a:rPr>
              <a:t>2</a:t>
            </a:r>
            <a:r>
              <a:rPr lang="en-US" altLang="zh-CN">
                <a:solidFill>
                  <a:srgbClr val="333333"/>
                </a:solidFill>
                <a:latin typeface="Lekton"/>
                <a:sym typeface="Lekton"/>
              </a:rPr>
              <a:t> &lt;0.2) is a major finding itself. It reveals that the "STEM Heaven" is not built on financial incentives alone; students' choices are likely shaped by complex socio-cultural factors and welfare structures rather than just money.</a:t>
            </a:r>
          </a:p>
          <a:p>
            <a:pPr marL="457200" indent="-317500">
              <a:spcBef>
                <a:spcPts val="1000"/>
              </a:spcBef>
              <a:buClr>
                <a:srgbClr val="333333"/>
              </a:buClr>
              <a:buSzPts val="1400"/>
              <a:buFont typeface="Lekton"/>
              <a:buChar char="-"/>
            </a:pPr>
            <a:r>
              <a:rPr lang="en-US" b="1">
                <a:solidFill>
                  <a:srgbClr val="333333"/>
                </a:solidFill>
                <a:latin typeface="Lekton"/>
                <a:ea typeface="Lekton"/>
                <a:cs typeface="Lekton"/>
                <a:sym typeface="Lekton"/>
              </a:rPr>
              <a:t>Discussions</a:t>
            </a:r>
          </a:p>
          <a:p>
            <a:pPr marL="457200" indent="-317500">
              <a:spcBef>
                <a:spcPts val="1000"/>
              </a:spcBef>
              <a:buClr>
                <a:srgbClr val="333333"/>
              </a:buClr>
              <a:buSzPts val="1400"/>
              <a:buFont typeface="Lekton"/>
              <a:buChar char="-"/>
            </a:pPr>
            <a:r>
              <a:rPr lang="en-US" b="1">
                <a:solidFill>
                  <a:srgbClr val="333333"/>
                </a:solidFill>
                <a:latin typeface="Lekton"/>
                <a:ea typeface="Lekton"/>
                <a:cs typeface="Lekton"/>
                <a:sym typeface="Lekton"/>
              </a:rPr>
              <a:t>Lurking Variables</a:t>
            </a:r>
            <a:r>
              <a:rPr lang="en-US">
                <a:solidFill>
                  <a:srgbClr val="333333"/>
                </a:solidFill>
                <a:latin typeface="Lekton"/>
                <a:ea typeface="Lekton"/>
                <a:cs typeface="Lekton"/>
                <a:sym typeface="Lekton"/>
              </a:rPr>
              <a:t>: Our model focuses on economic metrics, missing unmeasured variables that strongly influence education, such as immigration policies, gender gaps in tech, and cultural prestige.</a:t>
            </a:r>
            <a:r>
              <a:rPr lang="en-US" b="1">
                <a:solidFill>
                  <a:srgbClr val="333333"/>
                </a:solidFill>
                <a:latin typeface="Lekton"/>
                <a:ea typeface="Lekton"/>
                <a:cs typeface="Lekton"/>
                <a:sym typeface="Lekton"/>
              </a:rPr>
              <a:t>Sample Size &amp; Granularity: </a:t>
            </a:r>
            <a:r>
              <a:rPr lang="en-US">
                <a:solidFill>
                  <a:srgbClr val="333333"/>
                </a:solidFill>
                <a:latin typeface="Lekton"/>
                <a:ea typeface="Lekton"/>
                <a:cs typeface="Lekton"/>
                <a:sym typeface="Lekton"/>
              </a:rPr>
              <a:t>The specific STEM income data limited our robust analysis to 21 OECD countries. Additionally, the broad definition of "Industry Value Added" might blur the differences between traditional heavy manufacturing and modern high-tech sectors.</a:t>
            </a:r>
            <a:r>
              <a:rPr lang="en-US" b="1">
                <a:solidFill>
                  <a:srgbClr val="333333"/>
                </a:solidFill>
                <a:latin typeface="Lekton"/>
                <a:ea typeface="Lekton"/>
                <a:cs typeface="Lekton"/>
                <a:sym typeface="Lekton"/>
              </a:rPr>
              <a:t>Cross-Sectional Constraints: </a:t>
            </a:r>
            <a:r>
              <a:rPr lang="en-US">
                <a:solidFill>
                  <a:srgbClr val="333333"/>
                </a:solidFill>
                <a:latin typeface="Lekton"/>
                <a:ea typeface="Lekton"/>
                <a:cs typeface="Lekton"/>
                <a:sym typeface="Lekton"/>
              </a:rPr>
              <a:t>By using a time-weighted average to handle sparse historical data, this cross-sectional study highlights structural associations but cannot definitively prove causality.</a:t>
            </a:r>
          </a:p>
          <a:p>
            <a:pPr marL="457200" indent="-317500">
              <a:spcBef>
                <a:spcPts val="1000"/>
              </a:spcBef>
              <a:buClr>
                <a:srgbClr val="333333"/>
              </a:buClr>
              <a:buSzPts val="1400"/>
              <a:buFont typeface="Lekton"/>
              <a:buChar char="-"/>
            </a:pPr>
            <a:endParaRPr lang="en-US">
              <a:solidFill>
                <a:srgbClr val="333333"/>
              </a:solidFill>
              <a:latin typeface="Lekton"/>
              <a:ea typeface="Lekton"/>
              <a:cs typeface="Lekton"/>
              <a:sym typeface="Lekton"/>
            </a:endParaRPr>
          </a:p>
        </p:txBody>
      </p:sp>
    </p:spTree>
    <p:extLst>
      <p:ext uri="{BB962C8B-B14F-4D97-AF65-F5344CB8AC3E}">
        <p14:creationId xmlns:p14="http://schemas.microsoft.com/office/powerpoint/2010/main" val="4010744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9"/>
          <p:cNvSpPr txBox="1"/>
          <p:nvPr/>
        </p:nvSpPr>
        <p:spPr>
          <a:xfrm>
            <a:off x="540000" y="384725"/>
            <a:ext cx="8010000" cy="3176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800" b="1">
                <a:solidFill>
                  <a:srgbClr val="D66B55"/>
                </a:solidFill>
                <a:latin typeface="Lekton"/>
                <a:ea typeface="Lekton"/>
                <a:cs typeface="Lekton"/>
                <a:sym typeface="Lekton"/>
              </a:rPr>
              <a:t>Appendix: Sources of the data used in the project</a:t>
            </a:r>
            <a:endParaRPr sz="1800" b="1">
              <a:solidFill>
                <a:srgbClr val="D66B55"/>
              </a:solidFill>
              <a:latin typeface="Lekton"/>
              <a:ea typeface="Lekton"/>
              <a:cs typeface="Lekton"/>
              <a:sym typeface="Lekton"/>
            </a:endParaRPr>
          </a:p>
          <a:p>
            <a:pPr marL="457200" indent="-317500">
              <a:spcBef>
                <a:spcPts val="1000"/>
              </a:spcBef>
              <a:buClr>
                <a:srgbClr val="333333"/>
              </a:buClr>
              <a:buSzPts val="1400"/>
              <a:buFont typeface="Lekton"/>
              <a:buChar char="-"/>
            </a:pPr>
            <a:r>
              <a:rPr lang="en-US" altLang="zh-CN" b="1">
                <a:solidFill>
                  <a:srgbClr val="333333"/>
                </a:solidFill>
                <a:latin typeface="Lekton"/>
                <a:ea typeface="Lekton"/>
                <a:cs typeface="Lekton"/>
                <a:sym typeface="Lekton"/>
              </a:rPr>
              <a:t>PPP</a:t>
            </a:r>
            <a:r>
              <a:rPr lang="it" b="1">
                <a:solidFill>
                  <a:srgbClr val="333333"/>
                </a:solidFill>
                <a:latin typeface="Lekton"/>
                <a:ea typeface="Lekton"/>
                <a:cs typeface="Lekton"/>
                <a:sym typeface="Lekton"/>
              </a:rPr>
              <a:t>: </a:t>
            </a:r>
            <a:r>
              <a:rPr lang="en-US" altLang="zh-CN">
                <a:hlinkClick r:id="rId3"/>
              </a:rPr>
              <a:t> GDP, PPP (current international $) | Data</a:t>
            </a:r>
            <a:r>
              <a:rPr lang="zh-CN" altLang="en-US" i="1">
                <a:solidFill>
                  <a:srgbClr val="333333"/>
                </a:solidFill>
                <a:latin typeface="Lekton"/>
                <a:ea typeface="Lekton"/>
                <a:cs typeface="Lekton"/>
                <a:sym typeface="Lekton"/>
              </a:rPr>
              <a:t> </a:t>
            </a:r>
            <a:endParaRPr lang="en-US" altLang="zh-CN" i="1">
              <a:solidFill>
                <a:srgbClr val="333333"/>
              </a:solidFill>
              <a:latin typeface="Lekton"/>
              <a:ea typeface="Lekton"/>
              <a:cs typeface="Lekton"/>
              <a:sym typeface="Lekton"/>
            </a:endParaRPr>
          </a:p>
          <a:p>
            <a:pPr marL="457200" indent="-317500">
              <a:spcBef>
                <a:spcPts val="1000"/>
              </a:spcBef>
              <a:buClr>
                <a:srgbClr val="333333"/>
              </a:buClr>
              <a:buSzPts val="1400"/>
              <a:buFont typeface="Lekton"/>
              <a:buChar char="-"/>
            </a:pPr>
            <a:r>
              <a:rPr lang="en-US" altLang="zh-CN" b="1">
                <a:solidFill>
                  <a:srgbClr val="333333"/>
                </a:solidFill>
                <a:latin typeface="Lekton"/>
              </a:rPr>
              <a:t>Taxing Wages</a:t>
            </a:r>
            <a:r>
              <a:rPr lang="en-US" altLang="zh-CN" b="1">
                <a:solidFill>
                  <a:srgbClr val="333333"/>
                </a:solidFill>
                <a:latin typeface="Lekton"/>
                <a:ea typeface="Lekton"/>
                <a:cs typeface="Lekton"/>
                <a:sym typeface="Lekton"/>
              </a:rPr>
              <a:t>:</a:t>
            </a:r>
            <a:r>
              <a:rPr lang="en-US" altLang="zh-CN" i="1">
                <a:solidFill>
                  <a:srgbClr val="333333"/>
                </a:solidFill>
                <a:latin typeface="Lekton"/>
                <a:ea typeface="Lekton"/>
                <a:cs typeface="Lekton"/>
                <a:sym typeface="Lekton"/>
              </a:rPr>
              <a:t> </a:t>
            </a:r>
            <a:r>
              <a:rPr lang="en-US" altLang="zh-CN">
                <a:hlinkClick r:id="rId4"/>
              </a:rPr>
              <a:t>OECD Data Explorer • Labour taxation – OECD comparative country indicators</a:t>
            </a:r>
            <a:endParaRPr lang="en-US" altLang="zh-CN" i="1">
              <a:solidFill>
                <a:srgbClr val="333333"/>
              </a:solidFill>
              <a:latin typeface="Lekton"/>
              <a:ea typeface="Lekton"/>
              <a:cs typeface="Lekton"/>
              <a:sym typeface="Lekton"/>
            </a:endParaRPr>
          </a:p>
          <a:p>
            <a:pPr marL="457200" lvl="0" indent="-317500">
              <a:spcBef>
                <a:spcPts val="1000"/>
              </a:spcBef>
              <a:buClr>
                <a:srgbClr val="333333"/>
              </a:buClr>
              <a:buSzPts val="1400"/>
              <a:buFont typeface="Lekton"/>
              <a:buChar char="-"/>
            </a:pPr>
            <a:r>
              <a:rPr lang="en-US" altLang="zh-CN" b="1">
                <a:solidFill>
                  <a:srgbClr val="333333"/>
                </a:solidFill>
                <a:latin typeface="Lekton"/>
                <a:ea typeface="Lekton"/>
                <a:cs typeface="Lekton"/>
                <a:sym typeface="Lekton"/>
              </a:rPr>
              <a:t>Share of STEM students</a:t>
            </a:r>
            <a:r>
              <a:rPr lang="en-US" altLang="zh-CN" i="1">
                <a:solidFill>
                  <a:srgbClr val="333333"/>
                </a:solidFill>
                <a:latin typeface="Lekton"/>
                <a:ea typeface="Lekton"/>
                <a:cs typeface="Lekton"/>
                <a:sym typeface="Lekton"/>
              </a:rPr>
              <a:t>: </a:t>
            </a:r>
            <a:r>
              <a:rPr lang="en-US" altLang="zh-CN">
                <a:hlinkClick r:id="rId5"/>
              </a:rPr>
              <a:t>OECD Data Explorer • Distribution of enrolled students, new entrants and graduates by field of education</a:t>
            </a:r>
            <a:endParaRPr lang="en-US" altLang="zh-CN" i="1">
              <a:solidFill>
                <a:srgbClr val="333333"/>
              </a:solidFill>
              <a:latin typeface="Lekton"/>
              <a:ea typeface="Lekton"/>
              <a:cs typeface="Lekton"/>
              <a:sym typeface="Lekton"/>
            </a:endParaRPr>
          </a:p>
          <a:p>
            <a:pPr marL="457200" lvl="0" indent="-317500" algn="l" rtl="0">
              <a:spcBef>
                <a:spcPts val="0"/>
              </a:spcBef>
              <a:spcAft>
                <a:spcPts val="0"/>
              </a:spcAft>
              <a:buClr>
                <a:srgbClr val="333333"/>
              </a:buClr>
              <a:buSzPts val="1400"/>
              <a:buFont typeface="Lekton"/>
              <a:buChar char="-"/>
            </a:pPr>
            <a:r>
              <a:rPr lang="it" altLang="zh-CN" b="1">
                <a:solidFill>
                  <a:srgbClr val="333333"/>
                </a:solidFill>
                <a:latin typeface="Lekton"/>
                <a:ea typeface="Lekton"/>
                <a:cs typeface="Lekton"/>
                <a:sym typeface="Lekton"/>
              </a:rPr>
              <a:t>Percentage of Income of STEM workers: </a:t>
            </a:r>
            <a:r>
              <a:rPr lang="en-US" altLang="zh-CN">
                <a:hlinkClick r:id="rId6"/>
              </a:rPr>
              <a:t>OECD Data Explorer • Education and earnings (EARNINGS) (full dataset)</a:t>
            </a:r>
            <a:endParaRPr lang="en-US" altLang="zh-CN"/>
          </a:p>
          <a:p>
            <a:pPr marL="457200" lvl="0" indent="-317500" algn="l" rtl="0">
              <a:spcBef>
                <a:spcPts val="0"/>
              </a:spcBef>
              <a:spcAft>
                <a:spcPts val="0"/>
              </a:spcAft>
              <a:buClr>
                <a:srgbClr val="333333"/>
              </a:buClr>
              <a:buSzPts val="1400"/>
              <a:buFont typeface="Lekton"/>
              <a:buChar char="-"/>
            </a:pPr>
            <a:r>
              <a:rPr lang="en-US" altLang="zh-CN" b="1">
                <a:solidFill>
                  <a:srgbClr val="333333"/>
                </a:solidFill>
                <a:latin typeface="Lekton"/>
                <a:ea typeface="Lekton"/>
                <a:cs typeface="Lekton"/>
                <a:sym typeface="Lekton"/>
              </a:rPr>
              <a:t>Industry value added (% of GDP)</a:t>
            </a:r>
            <a:r>
              <a:rPr lang="it" altLang="zh-CN" b="1">
                <a:solidFill>
                  <a:srgbClr val="333333"/>
                </a:solidFill>
                <a:latin typeface="Lekton"/>
                <a:ea typeface="Lekton"/>
                <a:cs typeface="Lekton"/>
                <a:sym typeface="Lekton"/>
              </a:rPr>
              <a:t>: </a:t>
            </a:r>
            <a:r>
              <a:rPr lang="en-US" altLang="zh-CN">
                <a:hlinkClick r:id="rId7"/>
              </a:rPr>
              <a:t>Industry (including construction), value added (% of GDP) | Data</a:t>
            </a:r>
            <a:endParaRPr lang="it" altLang="zh-CN" b="1">
              <a:solidFill>
                <a:srgbClr val="333333"/>
              </a:solidFill>
              <a:latin typeface="Lekton"/>
              <a:ea typeface="Lekton"/>
              <a:cs typeface="Lekton"/>
              <a:sym typeface="Lekton"/>
            </a:endParaRPr>
          </a:p>
        </p:txBody>
      </p:sp>
    </p:spTree>
    <p:extLst>
      <p:ext uri="{BB962C8B-B14F-4D97-AF65-F5344CB8AC3E}">
        <p14:creationId xmlns:p14="http://schemas.microsoft.com/office/powerpoint/2010/main" val="1740724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body" idx="1"/>
          </p:nvPr>
        </p:nvSpPr>
        <p:spPr>
          <a:xfrm>
            <a:off x="540000" y="860725"/>
            <a:ext cx="3288900" cy="478800"/>
          </a:xfrm>
          <a:prstGeom prst="rect">
            <a:avLst/>
          </a:prstGeom>
        </p:spPr>
        <p:txBody>
          <a:bodyPr spcFirstLastPara="1" wrap="square" lIns="0" tIns="0" rIns="0" bIns="0" anchor="t" anchorCtr="0">
            <a:noAutofit/>
          </a:bodyPr>
          <a:lstStyle/>
          <a:p>
            <a:pPr marL="0" lvl="0" indent="0" algn="l" rtl="0">
              <a:spcBef>
                <a:spcPts val="0"/>
              </a:spcBef>
              <a:spcAft>
                <a:spcPts val="1600"/>
              </a:spcAft>
              <a:buNone/>
            </a:pPr>
            <a:r>
              <a:rPr lang="it" b="1">
                <a:latin typeface="Titillium Web"/>
                <a:ea typeface="Titillium Web"/>
                <a:cs typeface="Titillium Web"/>
                <a:sym typeface="Titillium Web"/>
              </a:rPr>
              <a:t>LICENCE</a:t>
            </a:r>
            <a:endParaRPr b="1">
              <a:latin typeface="Titillium Web"/>
              <a:ea typeface="Titillium Web"/>
              <a:cs typeface="Titillium Web"/>
              <a:sym typeface="Titillium Web"/>
            </a:endParaRPr>
          </a:p>
        </p:txBody>
      </p:sp>
      <p:sp>
        <p:nvSpPr>
          <p:cNvPr id="192" name="Google Shape;192;p36"/>
          <p:cNvSpPr txBox="1"/>
          <p:nvPr/>
        </p:nvSpPr>
        <p:spPr>
          <a:xfrm>
            <a:off x="4769999" y="860725"/>
            <a:ext cx="3927113" cy="2099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it" sz="1800" b="1">
                <a:solidFill>
                  <a:srgbClr val="333333"/>
                </a:solidFill>
                <a:latin typeface="Lekton"/>
                <a:ea typeface="Lekton"/>
                <a:cs typeface="Lekton"/>
                <a:sym typeface="Lekton"/>
              </a:rPr>
              <a:t>Slides</a:t>
            </a:r>
            <a:r>
              <a:rPr lang="it" sz="1800">
                <a:solidFill>
                  <a:srgbClr val="333333"/>
                </a:solidFill>
                <a:latin typeface="Lekton"/>
                <a:ea typeface="Lekton"/>
                <a:cs typeface="Lekton"/>
                <a:sym typeface="Lekton"/>
              </a:rPr>
              <a:t> are shared with the following license:</a:t>
            </a:r>
            <a:endParaRPr sz="1800">
              <a:solidFill>
                <a:srgbClr val="333333"/>
              </a:solidFill>
              <a:latin typeface="Lekton"/>
              <a:ea typeface="Lekton"/>
              <a:cs typeface="Lekton"/>
              <a:sym typeface="Lekton"/>
            </a:endParaRPr>
          </a:p>
          <a:p>
            <a:pPr marL="0" lvl="0" indent="0" algn="l" rtl="0">
              <a:spcBef>
                <a:spcPts val="500"/>
              </a:spcBef>
              <a:spcAft>
                <a:spcPts val="0"/>
              </a:spcAft>
              <a:buNone/>
            </a:pPr>
            <a:endParaRPr sz="1800">
              <a:solidFill>
                <a:srgbClr val="333333"/>
              </a:solidFill>
              <a:latin typeface="Lekton"/>
              <a:ea typeface="Lekton"/>
              <a:cs typeface="Lekton"/>
              <a:sym typeface="Lekton"/>
            </a:endParaRPr>
          </a:p>
          <a:p>
            <a:pPr>
              <a:spcBef>
                <a:spcPts val="500"/>
              </a:spcBef>
              <a:spcAft>
                <a:spcPts val="500"/>
              </a:spcAft>
            </a:pPr>
            <a:r>
              <a:rPr lang="it" sz="1100" b="1">
                <a:solidFill>
                  <a:schemeClr val="dk1"/>
                </a:solidFill>
                <a:latin typeface="Lekton"/>
                <a:ea typeface="Lekton"/>
                <a:cs typeface="Lekton"/>
                <a:sym typeface="Lekton"/>
              </a:rPr>
              <a:t>'</a:t>
            </a:r>
            <a:r>
              <a:rPr lang="en-US" altLang="zh-CN" sz="1100" b="1">
                <a:latin typeface="Lekton"/>
                <a:ea typeface="Lekton"/>
                <a:cs typeface="Lekton"/>
                <a:sym typeface="Lekton"/>
              </a:rPr>
              <a:t>Talents, Industry, and Richness: How are they related?</a:t>
            </a:r>
            <a:r>
              <a:rPr lang="it" sz="1100" b="1">
                <a:solidFill>
                  <a:schemeClr val="dk1"/>
                </a:solidFill>
                <a:latin typeface="Lekton"/>
                <a:ea typeface="Lekton"/>
                <a:cs typeface="Lekton"/>
                <a:sym typeface="Lekton"/>
              </a:rPr>
              <a:t>' </a:t>
            </a:r>
            <a:r>
              <a:rPr lang="it" sz="1100">
                <a:solidFill>
                  <a:schemeClr val="dk1"/>
                </a:solidFill>
                <a:latin typeface="Lekton"/>
                <a:ea typeface="Lekton"/>
                <a:cs typeface="Lekton"/>
                <a:sym typeface="Lekton"/>
              </a:rPr>
              <a:t>by</a:t>
            </a:r>
            <a:r>
              <a:rPr lang="it" sz="1100" b="1">
                <a:solidFill>
                  <a:schemeClr val="dk1"/>
                </a:solidFill>
                <a:latin typeface="Lekton"/>
                <a:ea typeface="Lekton"/>
                <a:cs typeface="Lekton"/>
                <a:sym typeface="Lekton"/>
              </a:rPr>
              <a:t> </a:t>
            </a:r>
            <a:r>
              <a:rPr lang="en-US" altLang="zh-CN" sz="1100" b="1">
                <a:solidFill>
                  <a:schemeClr val="dk1"/>
                </a:solidFill>
                <a:latin typeface="Lekton"/>
                <a:ea typeface="Lekton"/>
                <a:cs typeface="Lekton"/>
                <a:sym typeface="Lekton"/>
              </a:rPr>
              <a:t>Hao Li</a:t>
            </a:r>
            <a:r>
              <a:rPr lang="it" sz="1100">
                <a:solidFill>
                  <a:schemeClr val="dk1"/>
                </a:solidFill>
                <a:latin typeface="Lekton"/>
                <a:ea typeface="Lekton"/>
                <a:cs typeface="Lekton"/>
                <a:sym typeface="Lekton"/>
              </a:rPr>
              <a:t>, is licensed under a </a:t>
            </a:r>
            <a:r>
              <a:rPr lang="it" sz="1100" b="1">
                <a:solidFill>
                  <a:schemeClr val="dk1"/>
                </a:solidFill>
                <a:latin typeface="Lekton"/>
                <a:ea typeface="Lekton"/>
                <a:cs typeface="Lekton"/>
                <a:sym typeface="Lekton"/>
              </a:rPr>
              <a:t>CC-BY 4.0 </a:t>
            </a:r>
            <a:r>
              <a:rPr lang="it" sz="1100">
                <a:solidFill>
                  <a:schemeClr val="dk1"/>
                </a:solidFill>
                <a:latin typeface="Lekton"/>
                <a:ea typeface="Lekton"/>
                <a:cs typeface="Lekton"/>
                <a:sym typeface="Lekton"/>
              </a:rPr>
              <a:t>License.</a:t>
            </a:r>
            <a:endParaRPr sz="1100">
              <a:solidFill>
                <a:schemeClr val="dk1"/>
              </a:solidFill>
              <a:latin typeface="Lekton"/>
              <a:ea typeface="Lekton"/>
              <a:cs typeface="Lekton"/>
              <a:sym typeface="Lekto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1166</TotalTime>
  <Words>1616</Words>
  <Application>Microsoft Office PowerPoint</Application>
  <PresentationFormat>全屏显示(16:9)</PresentationFormat>
  <Paragraphs>64</Paragraphs>
  <Slides>13</Slides>
  <Notes>13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13</vt:i4>
      </vt:variant>
    </vt:vector>
  </HeadingPairs>
  <TitlesOfParts>
    <vt:vector size="17" baseType="lpstr">
      <vt:lpstr>Titillium Web</vt:lpstr>
      <vt:lpstr>Lekton</vt:lpstr>
      <vt:lpstr>Arial</vt:lpstr>
      <vt:lpstr>Simple Light</vt:lpstr>
      <vt:lpstr>Data Visualization Pitch Student  Individual Assignment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豪 李</cp:lastModifiedBy>
  <cp:revision>126</cp:revision>
  <dcterms:modified xsi:type="dcterms:W3CDTF">2026-07-06T17:56:10Z</dcterms:modified>
</cp:coreProperties>
</file>