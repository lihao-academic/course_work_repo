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0"/>
  </p:notesMasterIdLst>
  <p:sldIdLst>
    <p:sldId id="256" r:id="rId2"/>
    <p:sldId id="348" r:id="rId3"/>
    <p:sldId id="351" r:id="rId4"/>
    <p:sldId id="357" r:id="rId5"/>
    <p:sldId id="358" r:id="rId6"/>
    <p:sldId id="360" r:id="rId7"/>
    <p:sldId id="320" r:id="rId8"/>
    <p:sldId id="316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erriweather" panose="00000500000000000000" pitchFamily="2" charset="0"/>
      <p:regular r:id="rId15"/>
      <p:bold r:id="rId16"/>
      <p:italic r:id="rId17"/>
      <p:boldItalic r:id="rId18"/>
    </p:embeddedFont>
    <p:embeddedFont>
      <p:font typeface="Merriweather Light" panose="00000400000000000000" pitchFamily="2" charset="0"/>
      <p:regular r:id="rId19"/>
      <p: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Medium" panose="00000600000000000000" pitchFamily="2" charset="0"/>
      <p:regular r:id="rId25"/>
      <p: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Vidaloka" panose="02010600030101010101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86A7F9-1080-4ACD-9EBD-03A1B6617161}">
  <a:tblStyle styleId="{D886A7F9-1080-4ACD-9EBD-03A1B66171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854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398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486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7647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239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cf7a3c503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cf7a3c503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cc7554a049_0_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cc7554a049_0_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9" name="Google Shape;449;p50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5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>
            <a:spLocks noGrp="1"/>
          </p:cNvSpPr>
          <p:nvPr>
            <p:ph type="subTitle" idx="1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4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8088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altLang="zh-CN" dirty="0"/>
              <a:t>The Impact of ICTs and AI on Power Structures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err="1">
                <a:solidFill>
                  <a:schemeClr val="dk1"/>
                </a:solidFill>
              </a:rPr>
              <a:t>Amro</a:t>
            </a:r>
            <a:r>
              <a:rPr lang="en-US" dirty="0">
                <a:solidFill>
                  <a:schemeClr val="dk1"/>
                </a:solidFill>
              </a:rPr>
              <a:t> Emad Hassan Askar (946807)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1"/>
                </a:solidFill>
              </a:rPr>
              <a:t>Aly </a:t>
            </a:r>
            <a:r>
              <a:rPr lang="en-US" dirty="0" err="1">
                <a:solidFill>
                  <a:schemeClr val="dk1"/>
                </a:solidFill>
              </a:rPr>
              <a:t>Maged</a:t>
            </a:r>
            <a:r>
              <a:rPr lang="en-US" dirty="0">
                <a:solidFill>
                  <a:schemeClr val="dk1"/>
                </a:solidFill>
              </a:rPr>
              <a:t> Mohamed Mohamed Sayed Ahmed (946984)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1"/>
                </a:solidFill>
              </a:rPr>
              <a:t>Li Hao (947013)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7494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Concepts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Political Marketization</a:t>
            </a:r>
          </a:p>
          <a:p>
            <a:pPr lvl="1" indent="-298450">
              <a:buSzPts val="1100"/>
              <a:buFont typeface="Montserrat Medium"/>
              <a:buChar char="●"/>
            </a:pPr>
            <a:r>
              <a:rPr lang="en-US" altLang="zh-CN" sz="1100" dirty="0"/>
              <a:t>Definition</a:t>
            </a:r>
          </a:p>
          <a:p>
            <a:pPr lvl="1" indent="-298450">
              <a:buSzPts val="1100"/>
              <a:buFont typeface="Montserrat Medium"/>
              <a:buChar char="●"/>
            </a:pPr>
            <a:r>
              <a:rPr lang="en-US" altLang="zh-CN" sz="1100" dirty="0"/>
              <a:t>The Tech Factor</a:t>
            </a:r>
          </a:p>
          <a:p>
            <a:pPr lvl="1" indent="-298450">
              <a:buSzPts val="1100"/>
              <a:buFont typeface="Montserrat Medium"/>
              <a:buChar char="●"/>
            </a:pPr>
            <a:r>
              <a:rPr lang="en-US" altLang="zh-CN" sz="1100" dirty="0"/>
              <a:t>Clarification</a:t>
            </a:r>
            <a:endParaRPr lang="en-US" altLang="zh-CN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Data Sovereignty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dirty="0"/>
              <a:t>From Physical to Computational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dirty="0"/>
              <a:t>Security Concerns</a:t>
            </a:r>
            <a:r>
              <a:rPr lang="en-US" altLang="zh-CN" sz="1100" dirty="0">
                <a:solidFill>
                  <a:schemeClr val="dk1"/>
                </a:solidFill>
              </a:rPr>
              <a:t> 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Techno-Protectionism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dirty="0"/>
              <a:t>Weaponized Nodes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dirty="0"/>
              <a:t>Regionalization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570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59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Historical Evolution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Phase 1: From newspaper to Television</a:t>
            </a:r>
          </a:p>
          <a:p>
            <a:pPr lvl="1" indent="-298450">
              <a:lnSpc>
                <a:spcPct val="100000"/>
              </a:lnSpc>
              <a:spcBef>
                <a:spcPts val="1200"/>
              </a:spcBef>
              <a:buSzPts val="1100"/>
              <a:buFont typeface="Montserrat Medium"/>
              <a:buChar char="●"/>
            </a:pPr>
            <a:r>
              <a:rPr lang="en-US" altLang="zh-CN" sz="1100" b="1" dirty="0"/>
              <a:t>Print Era:</a:t>
            </a:r>
            <a:r>
              <a:rPr lang="en-US" altLang="zh-CN" sz="1100" dirty="0"/>
              <a:t> "Age of Exposition"—defined by logic, depth, and elite diplomacy.</a:t>
            </a:r>
          </a:p>
          <a:p>
            <a:pPr lvl="1" indent="-298450">
              <a:lnSpc>
                <a:spcPct val="100000"/>
              </a:lnSpc>
              <a:spcBef>
                <a:spcPts val="1200"/>
              </a:spcBef>
              <a:buSzPts val="1100"/>
              <a:buFont typeface="Montserrat"/>
              <a:buChar char="●"/>
            </a:pPr>
            <a:r>
              <a:rPr lang="en-US" altLang="zh-CN" sz="1100" b="1" dirty="0"/>
              <a:t>Television Era:</a:t>
            </a:r>
            <a:r>
              <a:rPr lang="en-US" altLang="zh-CN" sz="1100" dirty="0"/>
              <a:t> "Age of Show Business" (</a:t>
            </a:r>
            <a:r>
              <a:rPr lang="en-US" altLang="zh-CN" sz="1100" i="1" dirty="0"/>
              <a:t>Neil Postman</a:t>
            </a:r>
            <a:r>
              <a:rPr lang="en-US" altLang="zh-CN" sz="1100" dirty="0"/>
              <a:t>).</a:t>
            </a:r>
            <a:r>
              <a:rPr lang="en-US" altLang="zh-CN" sz="1100" dirty="0">
                <a:solidFill>
                  <a:schemeClr val="dk1"/>
                </a:solidFill>
              </a:rPr>
              <a:t> </a:t>
            </a:r>
          </a:p>
          <a:p>
            <a:pPr marL="1371600"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Domestic:</a:t>
            </a:r>
            <a:r>
              <a:rPr lang="en-US" altLang="zh-CN" sz="1100" dirty="0"/>
              <a:t> Politics becomes image-driven, emotive, and soundbite-heavy (e.g., MAGA).</a:t>
            </a:r>
          </a:p>
          <a:p>
            <a:pPr marL="1371600"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International:</a:t>
            </a:r>
            <a:r>
              <a:rPr lang="en-US" altLang="zh-CN" sz="1100" dirty="0"/>
              <a:t> The rise of </a:t>
            </a:r>
            <a:r>
              <a:rPr lang="en-US" altLang="zh-CN" sz="1100" b="1" dirty="0"/>
              <a:t>Soft Power</a:t>
            </a:r>
            <a:r>
              <a:rPr lang="en-US" altLang="zh-CN" sz="1100" dirty="0"/>
              <a:t> and </a:t>
            </a:r>
            <a:r>
              <a:rPr lang="en-US" altLang="zh-CN" sz="1100" b="1" dirty="0"/>
              <a:t>Public Diplomacy</a:t>
            </a:r>
            <a:r>
              <a:rPr lang="en-US" altLang="zh-CN" sz="1100" dirty="0"/>
              <a:t>. Winning the "hearts and minds" via global broadcasting.</a:t>
            </a:r>
          </a:p>
          <a:p>
            <a:pPr lvl="1" indent="-298450">
              <a:lnSpc>
                <a:spcPct val="100000"/>
              </a:lnSpc>
              <a:spcBef>
                <a:spcPts val="1200"/>
              </a:spcBef>
              <a:buSzPts val="1100"/>
              <a:buFont typeface="Montserrat Medium"/>
              <a:buChar char="●"/>
            </a:pPr>
            <a:r>
              <a:rPr lang="en-US" altLang="zh-CN" sz="1100" b="1" dirty="0"/>
              <a:t>The CNN Effect:</a:t>
            </a:r>
            <a:r>
              <a:rPr lang="en-US" altLang="zh-CN" sz="1100" dirty="0"/>
              <a:t> Real-time imagery forcing government responses.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Phase 2: From Television to AI/Big Data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Computational Propaganda:</a:t>
            </a:r>
            <a:r>
              <a:rPr lang="en-US" altLang="zh-CN" sz="1100" dirty="0"/>
              <a:t> Use of bots, algorithms, and automated scripts to manipulate content.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Micro-targeting:</a:t>
            </a:r>
            <a:r>
              <a:rPr lang="en-US" altLang="zh-CN" sz="1100" dirty="0"/>
              <a:t> Shifting from "Mass Broadcasting" to "One-on-One Precision Retail.“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Hidden Influence:</a:t>
            </a:r>
            <a:r>
              <a:rPr lang="en-US" altLang="zh-CN" sz="1100" dirty="0"/>
              <a:t> LLMs (like ChatGPT) influencing political orientation through training data bias.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New Reality:</a:t>
            </a:r>
            <a:r>
              <a:rPr lang="en-US" altLang="zh-CN" sz="1100" dirty="0"/>
              <a:t> Whoever owns the tech power owns the "Retail Market" of human cognition.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3284A3-56DF-8708-0036-435FCE417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761" y="399749"/>
            <a:ext cx="2305564" cy="147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0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66075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Case Study: US Domestic Politics (2016-2024)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298450">
              <a:spcBef>
                <a:spcPts val="1200"/>
              </a:spcBef>
              <a:buSzPts val="1100"/>
              <a:buFont typeface="Montserrat Medium"/>
              <a:buChar char="●"/>
            </a:pPr>
            <a:r>
              <a:rPr lang="en-US" altLang="zh-CN" b="1" dirty="0"/>
              <a:t>Tech vs. Tradition</a:t>
            </a:r>
          </a:p>
          <a:p>
            <a:pPr indent="-298450">
              <a:spcBef>
                <a:spcPts val="1200"/>
              </a:spcBef>
              <a:buSzPts val="1100"/>
              <a:buFont typeface="Montserrat Medium"/>
              <a:buChar char="●"/>
            </a:pPr>
            <a:r>
              <a:rPr lang="en-US" altLang="zh-CN" b="1" dirty="0"/>
              <a:t>"Media Attention" as a commodity</a:t>
            </a:r>
          </a:p>
          <a:p>
            <a:pPr indent="-298450">
              <a:spcBef>
                <a:spcPts val="1200"/>
              </a:spcBef>
              <a:buSzPts val="1100"/>
              <a:buFont typeface="Montserrat Medium"/>
              <a:buChar char="●"/>
            </a:pPr>
            <a:r>
              <a:rPr lang="en-US" altLang="zh-CN" b="1" dirty="0"/>
              <a:t>The "Megaphone Effect":</a:t>
            </a:r>
            <a:r>
              <a:rPr lang="en-US" altLang="zh-CN" dirty="0"/>
              <a:t> Political bots and AI-driven echo chambers creating massive organic reach.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b="1" dirty="0"/>
              <a:t>Conclusion:</a:t>
            </a:r>
            <a:r>
              <a:rPr lang="en-US" altLang="zh-CN" dirty="0"/>
              <a:t> Success was not just about strategy, but about adopting a superior media technology.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BA1619-0637-0946-A7F4-F76C38222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607" y="2853203"/>
            <a:ext cx="4375989" cy="171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01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61262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Case Study 2: US-China Tech Rivalry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TikTok</a:t>
            </a:r>
            <a:endParaRPr lang="en-US" altLang="zh-CN" b="1" dirty="0"/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TikTok as a Catalyst:</a:t>
            </a:r>
            <a:r>
              <a:rPr lang="en-US" altLang="zh-CN" sz="1100" dirty="0"/>
              <a:t> More than an app—it is a "High-Efficiency Perception Distribution System.“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Sovereignty Conflict:</a:t>
            </a:r>
            <a:r>
              <a:rPr lang="en-US" altLang="zh-CN" sz="1100" dirty="0"/>
              <a:t> US fear of "Foreign Algorithmic Manipulation" over its domestic political market.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b="1" dirty="0"/>
              <a:t>Policy Response:</a:t>
            </a:r>
            <a:r>
              <a:rPr lang="en-US" altLang="zh-CN" sz="1100" dirty="0"/>
              <a:t> The forced divestiture is a clear act of </a:t>
            </a:r>
            <a:r>
              <a:rPr lang="en-US" altLang="zh-CN" sz="1100" b="1" dirty="0"/>
              <a:t>Digital Sovereignty Protection</a:t>
            </a:r>
            <a:r>
              <a:rPr lang="en-US" altLang="zh-CN" sz="1100" dirty="0"/>
              <a:t>, not just a market action. (352-62)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B2E2B5-3B2E-FDF5-3B5B-00AF9805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5" y="2900062"/>
            <a:ext cx="3004444" cy="194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9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776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The Paradox of Technological Progress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The</a:t>
            </a:r>
            <a:r>
              <a:rPr lang="en-US" altLang="zh-CN" b="1" dirty="0"/>
              <a:t> </a:t>
            </a:r>
            <a:r>
              <a:rPr lang="en-US" altLang="zh-CN" sz="1400" b="1" dirty="0"/>
              <a:t>Paradox</a:t>
            </a:r>
            <a:r>
              <a:rPr lang="en-US" altLang="zh-CN" b="1" dirty="0"/>
              <a:t>:</a:t>
            </a:r>
            <a:r>
              <a:rPr lang="en-US" altLang="zh-CN" dirty="0"/>
              <a:t> Tech has the potential to connect the world, yet its impact on power forces nations to disconnect.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US" altLang="zh-CN" sz="1400" b="1" dirty="0"/>
              <a:t>Reason</a:t>
            </a:r>
            <a:endParaRPr lang="en-US" altLang="zh-CN" b="1" dirty="0"/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dirty="0"/>
              <a:t>1. Tech makes domestic politics fragile (Marketization). 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dirty="0"/>
              <a:t>2. Fragility leads to fear of foreign interference. </a:t>
            </a:r>
          </a:p>
          <a:p>
            <a:pPr lvl="1" indent="-298450">
              <a:lnSpc>
                <a:spcPct val="100000"/>
              </a:lnSpc>
              <a:buSzPts val="1100"/>
              <a:buFont typeface="Montserrat Medium"/>
              <a:buChar char="●"/>
            </a:pPr>
            <a:r>
              <a:rPr lang="en-US" altLang="zh-CN" sz="1100" dirty="0"/>
              <a:t>3. Fear triggers defensive barriers (Regionalization).</a:t>
            </a:r>
          </a:p>
          <a:p>
            <a:pPr indent="-298450">
              <a:buSzPts val="1100"/>
              <a:buFont typeface="Montserrat Medium"/>
              <a:buChar char="●"/>
            </a:pPr>
            <a:r>
              <a:rPr lang="en-US" altLang="zh-CN" sz="1400" b="1" dirty="0"/>
              <a:t>Conclusion and Clarification</a:t>
            </a:r>
            <a:endParaRPr lang="en-US" altLang="zh-CN" sz="800" b="1" dirty="0"/>
          </a:p>
        </p:txBody>
      </p:sp>
    </p:spTree>
    <p:extLst>
      <p:ext uri="{BB962C8B-B14F-4D97-AF65-F5344CB8AC3E}">
        <p14:creationId xmlns:p14="http://schemas.microsoft.com/office/powerpoint/2010/main" val="80039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24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1575" name="Google Shape;1575;p124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588" name="Google Shape;1588;p124"/>
          <p:cNvSpPr txBox="1">
            <a:spLocks noGrp="1"/>
          </p:cNvSpPr>
          <p:nvPr>
            <p:ph type="subTitle" idx="4294967295"/>
          </p:nvPr>
        </p:nvSpPr>
        <p:spPr>
          <a:xfrm>
            <a:off x="2684380" y="4088550"/>
            <a:ext cx="3790200" cy="2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dirty="0"/>
              <a:t>Please keep this slide for attribution</a:t>
            </a:r>
            <a:endParaRPr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20"/>
          <p:cNvSpPr txBox="1">
            <a:spLocks noGrp="1"/>
          </p:cNvSpPr>
          <p:nvPr>
            <p:ph type="subTitle" idx="1"/>
          </p:nvPr>
        </p:nvSpPr>
        <p:spPr>
          <a:xfrm>
            <a:off x="713224" y="1457540"/>
            <a:ext cx="7411200" cy="9118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100" dirty="0"/>
              <a:t>Generative AI is used to search data, assist brainstorm, and recapitulate the content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100" dirty="0"/>
              <a:t>Article searching platform (</a:t>
            </a:r>
            <a:r>
              <a:rPr lang="en-US" sz="1100" dirty="0" err="1"/>
              <a:t>Prometeo</a:t>
            </a:r>
            <a:r>
              <a:rPr lang="en-US" sz="1100" dirty="0"/>
              <a:t>) is used to search the articles and references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100" dirty="0"/>
              <a:t>Translator is used to help write the report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100" dirty="0"/>
              <a:t>Group discussion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US" sz="1100" dirty="0"/>
              <a:t>Pdf template platform</a:t>
            </a:r>
          </a:p>
        </p:txBody>
      </p:sp>
      <p:sp>
        <p:nvSpPr>
          <p:cNvPr id="1537" name="Google Shape;1537;p120"/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77501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Claim Methodologies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452</Words>
  <Application>Microsoft Office PowerPoint</Application>
  <PresentationFormat>全屏显示(16:9)</PresentationFormat>
  <Paragraphs>53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Merriweather</vt:lpstr>
      <vt:lpstr>Lato</vt:lpstr>
      <vt:lpstr>Open Sans</vt:lpstr>
      <vt:lpstr>Merriweather Light</vt:lpstr>
      <vt:lpstr>Montserrat</vt:lpstr>
      <vt:lpstr>Vidaloka</vt:lpstr>
      <vt:lpstr>Montserrat Medium</vt:lpstr>
      <vt:lpstr>Arial</vt:lpstr>
      <vt:lpstr>Minimalist Business Slides XL by Slidesgo</vt:lpstr>
      <vt:lpstr>The Impact of ICTs and AI on Power Structures</vt:lpstr>
      <vt:lpstr>Concepts</vt:lpstr>
      <vt:lpstr>Historical Evolution</vt:lpstr>
      <vt:lpstr>Case Study: US Domestic Politics (2016-2024)</vt:lpstr>
      <vt:lpstr>Case Study 2: US-China Tech Rivalry</vt:lpstr>
      <vt:lpstr>The Paradox of Technological Progress</vt:lpstr>
      <vt:lpstr>Thanks</vt:lpstr>
      <vt:lpstr>To Claim Methodologies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李豪</dc:creator>
  <cp:lastModifiedBy>豪 李</cp:lastModifiedBy>
  <cp:revision>26</cp:revision>
  <dcterms:modified xsi:type="dcterms:W3CDTF">2026-01-16T08:43:19Z</dcterms:modified>
</cp:coreProperties>
</file>