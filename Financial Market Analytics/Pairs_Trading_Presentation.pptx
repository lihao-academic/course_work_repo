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12191695" cy="2286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95728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Pairs Trading on the S&amp;P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01568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CE9F5"/>
                </a:solidFill>
                <a:latin typeface="Calibri"/>
              </a:rPr>
              <a:t>Can statistical arbitrage beat buy-and-hold on a risk-adjusted basis?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Financial Markets Analytics — Final Project (Variant A)</a:t>
            </a:r>
          </a:p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Prof. G. Forte · A.Y. 2025/2026 · University of Milano-Bicocca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Research question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Gatev, Goetzmann &amp; Rouwenhorst (2006) — cointegration 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77B4"/>
                </a:solidFill>
                <a:latin typeface="Calibri"/>
              </a:rPr>
              <a:t>▪ Question.</a:t>
            </a:r>
            <a:r>
              <a:rPr sz="1800">
                <a:solidFill>
                  <a:srgbClr val="1A1A2E"/>
                </a:solidFill>
                <a:latin typeface="Calibri"/>
              </a:rPr>
              <a:t> Does a market-neutral pairs-trading portfolio deliver better risk-adjusted returns than buying and holding the S&amp;P 500?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77B4"/>
                </a:solidFill>
                <a:latin typeface="Calibri"/>
              </a:rPr>
              <a:t>▪ Universe.</a:t>
            </a:r>
            <a:r>
              <a:rPr sz="1800">
                <a:solidFill>
                  <a:srgbClr val="1A1A2E"/>
                </a:solidFill>
                <a:latin typeface="Calibri"/>
              </a:rPr>
              <a:t> Survivorship-bias-free S&amp;P 500 constituents: 1,355 stocks that were ever in the index, 1990–2018 (professor's Bloomberg dataset).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77B4"/>
                </a:solidFill>
                <a:latin typeface="Calibri"/>
              </a:rPr>
              <a:t>▪ Two phases, rolled forward.</a:t>
            </a:r>
            <a:r>
              <a:rPr sz="1800">
                <a:solidFill>
                  <a:srgbClr val="1A1A2E"/>
                </a:solidFill>
                <a:latin typeface="Calibri"/>
              </a:rPr>
              <a:t> 3-year formation window to select cointegrated same-sector pairs (Engle–Granger), then 26 weeks of out-of-sample trading — repeated 52 times, 1993–2018.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77B4"/>
                </a:solidFill>
                <a:latin typeface="Calibri"/>
              </a:rPr>
              <a:t>▪ Signals.</a:t>
            </a:r>
            <a:r>
              <a:rPr sz="1800">
                <a:solidFill>
                  <a:srgbClr val="1A1A2E"/>
                </a:solidFill>
                <a:latin typeface="Calibri"/>
              </a:rPr>
              <a:t> Weekly z-score of the spread: open at |z| &gt; 2, close at |z| &lt; 0.5, stop at |z| &gt; 3, force-close at window end.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F77B4"/>
                </a:solidFill>
                <a:latin typeface="Calibri"/>
              </a:rPr>
              <a:t>▪ Judgement.</a:t>
            </a:r>
            <a:r>
              <a:rPr sz="1800">
                <a:solidFill>
                  <a:srgbClr val="1A1A2E"/>
                </a:solidFill>
                <a:latin typeface="Calibri"/>
              </a:rPr>
              <a:t> Everything measured net of 10 bps/turnover costs and compared with the index on Sharpe, volatility, drawdown.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Data: a survivorship-bias-free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SPX500 Original.xlsm → extract_data.py → Parquet caches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498079" cy="27747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▪ 1,355 tickers,</a:t>
            </a:r>
            <a:r>
              <a:rPr sz="1400">
                <a:solidFill>
                  <a:srgbClr val="1A1A2E"/>
                </a:solidFill>
                <a:latin typeface="Calibri"/>
              </a:rPr>
              <a:t> weekly Friday closes, 1990–2018 (1,509 weeks).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▪ Membership mask.</a:t>
            </a:r>
            <a:r>
              <a:rPr sz="1400">
                <a:solidFill>
                  <a:srgbClr val="1A1A2E"/>
                </a:solidFill>
                <a:latin typeface="Calibri"/>
              </a:rPr>
              <a:t> A stock is tradable only in months with positive index weight — delisted names included while members.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▪ ~500 members</a:t>
            </a:r>
            <a:r>
              <a:rPr sz="1400">
                <a:solidFill>
                  <a:srgbClr val="1A1A2E"/>
                </a:solidFill>
                <a:latin typeface="Calibri"/>
              </a:rPr>
              <a:t> every month, exactly as the real index.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F77B4"/>
                </a:solidFill>
                <a:latin typeface="Calibri"/>
              </a:rPr>
              <a:t>▪ Benchmark.</a:t>
            </a:r>
            <a:r>
              <a:rPr sz="1400">
                <a:solidFill>
                  <a:srgbClr val="1A1A2E"/>
                </a:solidFill>
                <a:latin typeface="Calibri"/>
              </a:rPr>
              <a:t> S&amp;P 500 index level from the same workbook.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Data cleaning — documented, as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1F77B4"/>
                </a:solidFill>
                <a:latin typeface="Calibri"/>
              </a:rPr>
              <a:t>▪ Sector map off-by-one (our best catch).</a:t>
            </a:r>
            <a:r>
              <a:rPr sz="1700">
                <a:solidFill>
                  <a:srgbClr val="1A1A2E"/>
                </a:solidFill>
                <a:latin typeface="Calibri"/>
              </a:rPr>
              <a:t> The Sector sheet holds unevaluated Bloomberg formulas; the 0/1 sector sheets have headers shifted by one column vs the data — read naively, ExxonMobil lands in Consumer Cyclical and JPMorgan in Industrial. We re-aligned data column c to the c-th master ticker and verified 30/30 well-known companies correct (vs ~6/30 naive).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77B4"/>
                </a:solidFill>
                <a:latin typeface="Calibri"/>
              </a:rPr>
              <a:t>▪ Quality filters at formation.</a:t>
            </a:r>
            <a:r>
              <a:rPr sz="1700">
                <a:solidFill>
                  <a:srgbClr val="1A1A2E"/>
                </a:solidFill>
                <a:latin typeface="Calibri"/>
              </a:rPr>
              <a:t> Complete 3-year history, price ≥ $5, no weekly move &gt; 50% — removes penny stocks and unadjusted corporate actions that fake cointegration.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77B4"/>
                </a:solidFill>
                <a:latin typeface="Calibri"/>
              </a:rPr>
              <a:t>▪ Delistings inside a trading window.</a:t>
            </a:r>
            <a:r>
              <a:rPr sz="1700">
                <a:solidFill>
                  <a:srgbClr val="1A1A2E"/>
                </a:solidFill>
                <a:latin typeface="Calibri"/>
              </a:rPr>
              <a:t> Prices forward-filled; the pair is force-closed at the last date both legs quote.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1F77B4"/>
                </a:solidFill>
                <a:latin typeface="Calibri"/>
              </a:rPr>
              <a:t>▪ Weekly frequency.</a:t>
            </a:r>
            <a:r>
              <a:rPr sz="1700">
                <a:solidFill>
                  <a:srgbClr val="1A1A2E"/>
                </a:solidFill>
                <a:latin typeface="Calibri"/>
              </a:rPr>
              <a:t> Friday closes (assignment: weekly or monthly, never daily).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Formation: Engle–Granger scan within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All same-sector combinations, both orderings — ~0.2 ms per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Cointegration regression.</a:t>
            </a:r>
            <a:r>
              <a:rPr sz="1600">
                <a:solidFill>
                  <a:srgbClr val="1A1A2E"/>
                </a:solidFill>
                <a:latin typeface="Calibri"/>
              </a:rPr>
              <a:t> log y = α + β·log x + ε on 156 weeks; ADF test on residuals (statsmodels coint).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Survivors need:</a:t>
            </a:r>
            <a:r>
              <a:rPr sz="1600">
                <a:solidFill>
                  <a:srgbClr val="1A1A2E"/>
                </a:solidFill>
                <a:latin typeface="Calibri"/>
              </a:rPr>
              <a:t> p &lt; 0.05, hedge ratio β ∈ [0.1, 10], spread half-life 1–26 weeks.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Ranking.</a:t>
            </a:r>
            <a:r>
              <a:rPr sz="1600">
                <a:solidFill>
                  <a:srgbClr val="1A1A2E"/>
                </a:solidFill>
                <a:latin typeface="Calibri"/>
              </a:rPr>
              <a:t> Sort by p-value, greedy pick — each stock in at most one pair — until 20 pairs.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Freeze.</a:t>
            </a:r>
            <a:r>
              <a:rPr sz="1600">
                <a:solidFill>
                  <a:srgbClr val="1A1A2E"/>
                </a:solidFill>
                <a:latin typeface="Calibri"/>
              </a:rPr>
              <a:t> α, β, μ, σ frozen at formation end: the trading window is genuinely out-of-sample.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Result.</a:t>
            </a:r>
            <a:r>
              <a:rPr sz="1600">
                <a:solidFill>
                  <a:srgbClr val="1A1A2E"/>
                </a:solidFill>
                <a:latin typeface="Calibri"/>
              </a:rPr>
              <a:t> All 52 windows fill the full 20-pair book.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5029200" cy="2206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One pair under the microscope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Formation 2004–2006, trading H1-2007 — and a live cointegration breakdown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71600"/>
            <a:ext cx="6743526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59436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Calibri"/>
              </a:rPr>
              <a:t>The spread breaks +3σ out-of-sample → stop-loss fires and locks the pair: exactly the risk the stop rule exists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Trading rules &amp; P&amp;L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Weekly, on the frozen z-score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Open</a:t>
            </a:r>
            <a:r>
              <a:rPr sz="1600">
                <a:solidFill>
                  <a:srgbClr val="1A1A2E"/>
                </a:solidFill>
                <a:latin typeface="Calibri"/>
              </a:rPr>
              <a:t> long spread at z ≤ −2 (long y, short βx), short spread at z ≥ +2.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Close</a:t>
            </a:r>
            <a:r>
              <a:rPr sz="1600">
                <a:solidFill>
                  <a:srgbClr val="1A1A2E"/>
                </a:solidFill>
                <a:latin typeface="Calibri"/>
              </a:rPr>
              <a:t> when |z| &lt; 0.5 — the spread has reverted.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Stop-loss</a:t>
            </a:r>
            <a:r>
              <a:rPr sz="1600">
                <a:solidFill>
                  <a:srgbClr val="1A1A2E"/>
                </a:solidFill>
                <a:latin typeface="Calibri"/>
              </a:rPr>
              <a:t> at |z| ≥ 3, pair locked for the window.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Max holding.</a:t>
            </a:r>
            <a:r>
              <a:rPr sz="1600">
                <a:solidFill>
                  <a:srgbClr val="1A1A2E"/>
                </a:solidFill>
                <a:latin typeface="Calibri"/>
              </a:rPr>
              <a:t> Force-close after 26 weeks.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Costs.</a:t>
            </a:r>
            <a:r>
              <a:rPr sz="1600">
                <a:solidFill>
                  <a:srgbClr val="1A1A2E"/>
                </a:solidFill>
                <a:latin typeface="Calibri"/>
              </a:rPr>
              <a:t> 10 bps per unit of turnover ≈ 20 bps per round trip.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77B4"/>
                </a:solidFill>
                <a:latin typeface="Calibri"/>
              </a:rPr>
              <a:t>▪ Capital.</a:t>
            </a:r>
            <a:r>
              <a:rPr sz="1600">
                <a:solidFill>
                  <a:srgbClr val="1A1A2E"/>
                </a:solidFill>
                <a:latin typeface="Calibri"/>
              </a:rPr>
              <a:t> 1/20 per pair; gross exposure = capital (wy = 1/(1+β) long, wx = β/(1+β) short).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5212080" cy="1628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Walk-forward simulation: 52 windows, 1993–2018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Re-select, re-estimate, trade out-of-sample, roll — no look-ahead anywhere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10789920" cy="29213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206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Every half-year the book is rebuilt from scratch with only past data. Chaining the 52 windows gives 1,352 weeks (~26 years) of genuinely out-of-sample weekly returns.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Headline results vs the S&amp;P 500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463040"/>
          <a:ext cx="9774936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221992"/>
                <a:gridCol w="2221992"/>
                <a:gridCol w="2221992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Pairs (net)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Pairs (gross)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S&amp;P 500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2E"/>
                          </a:solidFill>
                        </a:rPr>
                        <a:t>Total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-7.23%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+1.43%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+498.62%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2E"/>
                          </a:solidFill>
                        </a:rPr>
                        <a:t>CAGR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-0.29%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+0.05%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+7.12%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2E"/>
                          </a:solidFill>
                        </a:rPr>
                        <a:t>Ann.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+1.53%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+1.52%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+16.41%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2E"/>
                          </a:solidFill>
                        </a:rPr>
                        <a:t>Sharpe (rf = 0)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-0.18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0.04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2E"/>
                          </a:solidFill>
                        </a:rPr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-13.55%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-10.09%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-56.24%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2E"/>
                          </a:solidFill>
                        </a:rPr>
                        <a:t>Corr. with S&amp;P 500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0.09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0.09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F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A1A2E"/>
                          </a:solidFill>
                        </a:rPr>
                        <a:t>Beta vs 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8720" y="580644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62728"/>
                </a:solidFill>
                <a:latin typeface="Calibri"/>
              </a:rPr>
              <a:t>Net of costs the strategy does NOT beat buy-and-hold — but look at the risk rows: a tenth of the index volatility, a quarter of its drawdown, zero beta.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Out-of-sample equity curves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7737907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Market neutrality, verified in the data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881360" cy="3323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Calibri"/>
              </a:rPr>
              <a:t>2008: strategy -4.6% while the S&amp;P 500 lost -41.0%. Rolling 1-year correlation oscillates around zero — the equity curve is driven by spread convergence, not by the market.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Sensitivity: thresholds &amp; the cost knife-edge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Selection kept fixed; only the trading layer re-run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0515600" cy="33099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Sharpe stays near or below zero across the whole entry/exit grid → the weak net result is structural, not a parameter accident. The strategy only survives execution below ~10 bps per trade.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1F77B4"/>
                </a:solidFill>
                <a:latin typeface="Calibri"/>
              </a:rPr>
              <a:t>▪ No, net of costs.</a:t>
            </a:r>
            <a:r>
              <a:rPr sz="1800">
                <a:solidFill>
                  <a:srgbClr val="1A1A2E"/>
                </a:solidFill>
                <a:latin typeface="Calibri"/>
              </a:rPr>
              <a:t> Risk-adjusted, pairs trading (Sharpe -0.18) did not beat S&amp;P 500 buy-and-hold (Sharpe 0.50) over 1993–2018.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77B4"/>
                </a:solidFill>
                <a:latin typeface="Calibri"/>
              </a:rPr>
              <a:t>▪ The construction delivers.</a:t>
            </a:r>
            <a:r>
              <a:rPr sz="1800">
                <a:solidFill>
                  <a:srgbClr val="1A1A2E"/>
                </a:solidFill>
                <a:latin typeface="Calibri"/>
              </a:rPr>
              <a:t> Beta 0.01, correlation 0.09, max drawdown -13.55% vs -56.24% for the index; only -4.6% in 2008 while the market lost -41.0%.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77B4"/>
                </a:solidFill>
                <a:latin typeface="Calibri"/>
              </a:rPr>
              <a:t>▪ The edge was real — in the 1990s.</a:t>
            </a:r>
            <a:r>
              <a:rPr sz="1800">
                <a:solidFill>
                  <a:srgbClr val="1A1A2E"/>
                </a:solidFill>
                <a:latin typeface="Calibri"/>
              </a:rPr>
              <a:t> 1993–2002: gross Sharpe 0.36, still positive (0.14) after costs — cointegration genuinely predicted mean reversion.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77B4"/>
                </a:solidFill>
                <a:latin typeface="Calibri"/>
              </a:rPr>
              <a:t>▪ And it has since disappeared.</a:t>
            </a:r>
            <a:r>
              <a:rPr sz="1800">
                <a:solidFill>
                  <a:srgbClr val="1A1A2E"/>
                </a:solidFill>
                <a:latin typeface="Calibri"/>
              </a:rPr>
              <a:t> 2003–2018: even gross Sharpe turns negative (-0.20); costs subtract another ~0.2. Not a parameter issue — the signal itself decayed.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F77B4"/>
                </a:solidFill>
                <a:latin typeface="Calibri"/>
              </a:rPr>
              <a:t>▪ We reproduce the literature.</a:t>
            </a:r>
            <a:r>
              <a:rPr sz="1800">
                <a:solidFill>
                  <a:srgbClr val="1A1A2E"/>
                </a:solidFill>
                <a:latin typeface="Calibri"/>
              </a:rPr>
              <a:t> Gatev et al. (2006): profits fading through the 1990s; Do &amp; Faff (2010): gone afterwards. Our independent implementation confirms it on 1993–2018.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Calibri"/>
              </a:rPr>
              <a:t>Limitations &amp;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77B4"/>
                </a:solidFill>
                <a:latin typeface="Calibri"/>
              </a:rPr>
              <a:t>▪ Cointegration breakdown</a:t>
            </a:r>
            <a:r>
              <a:rPr sz="1500">
                <a:solidFill>
                  <a:srgbClr val="1A1A2E"/>
                </a:solidFill>
                <a:latin typeface="Calibri"/>
              </a:rPr>
              <a:t> — mergers, regime shifts; stop-loss + max holding are the defences.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77B4"/>
                </a:solidFill>
                <a:latin typeface="Calibri"/>
              </a:rPr>
              <a:t>▪ Multiple testing</a:t>
            </a:r>
            <a:r>
              <a:rPr sz="1500">
                <a:solidFill>
                  <a:srgbClr val="1A1A2E"/>
                </a:solidFill>
                <a:latin typeface="Calibri"/>
              </a:rPr>
              <a:t> — thousands of tests breed false pairs; sector restriction + half-life filter + out-of-sample design mitigate.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77B4"/>
                </a:solidFill>
                <a:latin typeface="Calibri"/>
              </a:rPr>
              <a:t>▪ Benchmark is a price index</a:t>
            </a:r>
            <a:r>
              <a:rPr sz="1500">
                <a:solidFill>
                  <a:srgbClr val="1A1A2E"/>
                </a:solidFill>
                <a:latin typeface="Calibri"/>
              </a:rPr>
              <a:t> (no dividends); borrow fees / cash interest also unmodelled — omissions on both sides.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77B4"/>
                </a:solidFill>
                <a:latin typeface="Calibri"/>
              </a:rPr>
              <a:t>▪ Execution</a:t>
            </a:r>
            <a:r>
              <a:rPr sz="1500">
                <a:solidFill>
                  <a:srgbClr val="1A1A2E"/>
                </a:solidFill>
                <a:latin typeface="Calibri"/>
              </a:rPr>
              <a:t> — Friday closes, flat cost rate, shorting assumed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77B4"/>
                </a:solidFill>
                <a:latin typeface="Calibri"/>
              </a:rPr>
              <a:t>▪ Monthly-frequency</a:t>
            </a:r>
            <a:r>
              <a:rPr sz="1500">
                <a:solidFill>
                  <a:srgbClr val="1A1A2E"/>
                </a:solidFill>
                <a:latin typeface="Calibri"/>
              </a:rPr>
              <a:t> comparison.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77B4"/>
                </a:solidFill>
                <a:latin typeface="Calibri"/>
              </a:rPr>
              <a:t>▪ Johansen test / distance method</a:t>
            </a:r>
            <a:r>
              <a:rPr sz="1500">
                <a:solidFill>
                  <a:srgbClr val="1A1A2E"/>
                </a:solidFill>
                <a:latin typeface="Calibri"/>
              </a:rPr>
              <a:t> as alternative selection.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77B4"/>
                </a:solidFill>
                <a:latin typeface="Calibri"/>
              </a:rPr>
              <a:t>▪ Volatility-scaled</a:t>
            </a:r>
            <a:r>
              <a:rPr sz="1500">
                <a:solidFill>
                  <a:srgbClr val="1A1A2E"/>
                </a:solidFill>
                <a:latin typeface="Calibri"/>
              </a:rPr>
              <a:t> capital allocation.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77B4"/>
                </a:solidFill>
                <a:latin typeface="Calibri"/>
              </a:rPr>
              <a:t>▪ Kalman-filter</a:t>
            </a:r>
            <a:r>
              <a:rPr sz="1500">
                <a:solidFill>
                  <a:srgbClr val="1A1A2E"/>
                </a:solidFill>
                <a:latin typeface="Calibri"/>
              </a:rPr>
              <a:t> time-varying hedge ratio.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77B4"/>
                </a:solidFill>
                <a:latin typeface="Calibri"/>
              </a:rPr>
              <a:t>▪ Stoxx 600</a:t>
            </a:r>
            <a:r>
              <a:rPr sz="1500">
                <a:solidFill>
                  <a:srgbClr val="1A1A2E"/>
                </a:solidFill>
                <a:latin typeface="Calibri"/>
              </a:rPr>
              <a:t> European universe replication.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References: Gatev, Goetzmann &amp; Rouwenhorst (2006) RFS · Do &amp; Faff (2010) FAJ · Vidyamurthy (2004) · Engle &amp; Granger (1987)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